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ff6f9d85854571" /><Relationship Type="http://schemas.openxmlformats.org/officeDocument/2006/relationships/extended-properties" Target="/docProps/app.xml" Id="R33e41ccfd5bf4b7f" /><Relationship Type="http://schemas.openxmlformats.org/officeDocument/2006/relationships/officeDocument" Target="/ppt/presentation.xml" Id="R7e4c34d5642143d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404e60c8bef40a3"/>
    <p:sldMasterId xmlns:r="http://schemas.openxmlformats.org/officeDocument/2006/relationships" id="2147483650" r:id="R47a2e587ed974027"/>
  </p:sldMasterIdLst>
  <p:notesMasterIdLst>
    <p:notesMasterId xmlns:r="http://schemas.openxmlformats.org/officeDocument/2006/relationships" r:id="Rf64846d51f1b40b4"/>
  </p:notesMasterIdLst>
  <p:sldIdLst>
    <p:sldId xmlns:r="http://schemas.openxmlformats.org/officeDocument/2006/relationships" id="256" r:id="R62e7d12e1bdb404f"/>
    <p:sldId xmlns:r="http://schemas.openxmlformats.org/officeDocument/2006/relationships" id="257" r:id="R824f90860dd34125"/>
    <p:sldId xmlns:r="http://schemas.openxmlformats.org/officeDocument/2006/relationships" id="258" r:id="R1253f88995eb43e1"/>
    <p:sldId xmlns:r="http://schemas.openxmlformats.org/officeDocument/2006/relationships" id="259" r:id="R1a399acd3c464a14"/>
    <p:sldId xmlns:r="http://schemas.openxmlformats.org/officeDocument/2006/relationships" id="260" r:id="Rd0ed2f95bef3411c"/>
    <p:sldId xmlns:r="http://schemas.openxmlformats.org/officeDocument/2006/relationships" id="261" r:id="R1a609332e0374e8d"/>
    <p:sldId xmlns:r="http://schemas.openxmlformats.org/officeDocument/2006/relationships" id="262" r:id="Rb6437515427349c5"/>
    <p:sldId xmlns:r="http://schemas.openxmlformats.org/officeDocument/2006/relationships" id="263" r:id="R7e22bdbcb58f4fd5"/>
    <p:sldId xmlns:r="http://schemas.openxmlformats.org/officeDocument/2006/relationships" id="264" r:id="R2f22a3129e7844d2"/>
    <p:sldId xmlns:r="http://schemas.openxmlformats.org/officeDocument/2006/relationships" id="265" r:id="R474bef51bb67480e"/>
    <p:sldId xmlns:r="http://schemas.openxmlformats.org/officeDocument/2006/relationships" id="266" r:id="Rb4530a856e16415f"/>
    <p:sldId xmlns:r="http://schemas.openxmlformats.org/officeDocument/2006/relationships" id="267" r:id="R7c2a2f2cc3334dfb"/>
  </p:sldIdLst>
  <p:sldSz cx="12192000" cy="6858000"/>
  <p:notesSz cx="6858000" cy="9144000"/>
  <p:embeddedFontLst>
    <p:embeddedFont>
      <p:font typeface="Pretendard"/>
      <p:regular xmlns:r="http://schemas.openxmlformats.org/officeDocument/2006/relationships" r:id="R7ab7f93786884da0"/>
      <p:bold xmlns:r="http://schemas.openxmlformats.org/officeDocument/2006/relationships" r:id="R10e92299600a49b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eebd5102674d2d" /><Relationship Type="http://schemas.openxmlformats.org/officeDocument/2006/relationships/slideMaster" Target="/ppt/slideMasters/slideMaster1.xml" Id="R9404e60c8bef40a3" /><Relationship Type="http://schemas.openxmlformats.org/officeDocument/2006/relationships/slideMaster" Target="/ppt/slideMasters/slideMaster2.xml" Id="R47a2e587ed974027" /><Relationship Type="http://schemas.openxmlformats.org/officeDocument/2006/relationships/notesMaster" Target="/ppt/notesMasters/notesMaster1.xml" Id="Rf64846d51f1b40b4" /><Relationship Type="http://schemas.openxmlformats.org/officeDocument/2006/relationships/presProps" Target="/ppt/presProps.xml" Id="R0f08cae23fdc43ae" /><Relationship Type="http://schemas.openxmlformats.org/officeDocument/2006/relationships/tableStyles" Target="/ppt/tableStyles.xml" Id="R70b66711af0d41c1" /><Relationship Type="http://schemas.openxmlformats.org/officeDocument/2006/relationships/font" Target="/ppt/fonts/font.dat" Id="R7ab7f93786884da0" /><Relationship Type="http://schemas.openxmlformats.org/officeDocument/2006/relationships/font" Target="/ppt/fonts/font2.dat" Id="R10e92299600a49b6" /><Relationship Type="http://schemas.openxmlformats.org/officeDocument/2006/relationships/slide" Target="/ppt/slides/slide1.xml" Id="R62e7d12e1bdb404f" /><Relationship Type="http://schemas.openxmlformats.org/officeDocument/2006/relationships/slide" Target="/ppt/slides/slide2.xml" Id="R824f90860dd34125" /><Relationship Type="http://schemas.openxmlformats.org/officeDocument/2006/relationships/slide" Target="/ppt/slides/slide3.xml" Id="R1253f88995eb43e1" /><Relationship Type="http://schemas.openxmlformats.org/officeDocument/2006/relationships/slide" Target="/ppt/slides/slide4.xml" Id="R1a399acd3c464a14" /><Relationship Type="http://schemas.openxmlformats.org/officeDocument/2006/relationships/slide" Target="/ppt/slides/slide5.xml" Id="Rd0ed2f95bef3411c" /><Relationship Type="http://schemas.openxmlformats.org/officeDocument/2006/relationships/slide" Target="/ppt/slides/slide6.xml" Id="R1a609332e0374e8d" /><Relationship Type="http://schemas.openxmlformats.org/officeDocument/2006/relationships/slide" Target="/ppt/slides/slide7.xml" Id="Rb6437515427349c5" /><Relationship Type="http://schemas.openxmlformats.org/officeDocument/2006/relationships/slide" Target="/ppt/slides/slide8.xml" Id="R7e22bdbcb58f4fd5" /><Relationship Type="http://schemas.openxmlformats.org/officeDocument/2006/relationships/slide" Target="/ppt/slides/slide9.xml" Id="R2f22a3129e7844d2" /><Relationship Type="http://schemas.openxmlformats.org/officeDocument/2006/relationships/slide" Target="/ppt/slides/slide10.xml" Id="R474bef51bb67480e" /><Relationship Type="http://schemas.openxmlformats.org/officeDocument/2006/relationships/slide" Target="/ppt/slides/slide11.xml" Id="Rb4530a856e16415f" /><Relationship Type="http://schemas.openxmlformats.org/officeDocument/2006/relationships/slide" Target="/ppt/slides/slide12.xml" Id="R7c2a2f2cc3334d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36d111ece3142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ca125bf9b454e" /><Relationship Type="http://schemas.openxmlformats.org/officeDocument/2006/relationships/notesMaster" Target="/ppt/notesMasters/notesMaster1.xml" Id="Rfeb23ce291f8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0cd82d0d746fd" /><Relationship Type="http://schemas.openxmlformats.org/officeDocument/2006/relationships/notesMaster" Target="/ppt/notesMasters/notesMaster1.xml" Id="R370c5878939b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2c7feef2b34656" /><Relationship Type="http://schemas.openxmlformats.org/officeDocument/2006/relationships/notesMaster" Target="/ppt/notesMasters/notesMaster1.xml" Id="R13f2e487c3a14a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437197c7df484f" /><Relationship Type="http://schemas.openxmlformats.org/officeDocument/2006/relationships/notesMaster" Target="/ppt/notesMasters/notesMaster1.xml" Id="R449a8dd3a975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2583ce983a4b97" /><Relationship Type="http://schemas.openxmlformats.org/officeDocument/2006/relationships/notesMaster" Target="/ppt/notesMasters/notesMaster1.xml" Id="R1904e024f299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a908c1fc1f4a39" /><Relationship Type="http://schemas.openxmlformats.org/officeDocument/2006/relationships/notesMaster" Target="/ppt/notesMasters/notesMaster1.xml" Id="R7262d82276014f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997788a4794d83" /><Relationship Type="http://schemas.openxmlformats.org/officeDocument/2006/relationships/notesMaster" Target="/ppt/notesMasters/notesMaster1.xml" Id="Rcef043c3ef1f48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cb8beca4f943e1" /><Relationship Type="http://schemas.openxmlformats.org/officeDocument/2006/relationships/notesMaster" Target="/ppt/notesMasters/notesMaster1.xml" Id="Rdb50f9c6d0c94f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7b3c452fc14ab3" /><Relationship Type="http://schemas.openxmlformats.org/officeDocument/2006/relationships/notesMaster" Target="/ppt/notesMasters/notesMaster1.xml" Id="R546ef709d7514f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c564999768418e" /><Relationship Type="http://schemas.openxmlformats.org/officeDocument/2006/relationships/notesMaster" Target="/ppt/notesMasters/notesMaster1.xml" Id="R56239a66ba0c45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6531ba01544292" /><Relationship Type="http://schemas.openxmlformats.org/officeDocument/2006/relationships/notesMaster" Target="/ppt/notesMasters/notesMaster1.xml" Id="R0a247497e45a4a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cb5ba4c48a4e65" /><Relationship Type="http://schemas.openxmlformats.org/officeDocument/2006/relationships/notesMaster" Target="/ppt/notesMasters/notesMaster1.xml" Id="R848adf6dbca948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프로젝트 소개 표지.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/Users/frypaneggnaver.com/Downloads/2026_조직건강도_AI_Agent_수행결과(최종).pptx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핵심 운영 지표와 설계 원칙 요약.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data/historical-fact-seed.json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data/current-2026-fact-seed.json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교섭 기록의 기본 엔터티와 분류 제약.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docs/data-pipeline.md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범위 검증, 뉴스 수집, 운영 자동화의 세 단계.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docs/data-pipeline.md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docs/프로젝트-인수인계.md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실제 배포 대시보드 첫 화면.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https://er-radar.er-radar.workers.dev/ (Captured 2026-08-11)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실제 배포 대시보드의 현대자동차 선택 상세 화면.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https://er-radar.er-radar.workers.dev/ (Captured 2026-08-11)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실제 배포 대시보드의 교섭 경과·쟁점·출처 화면.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https://er-radar.er-radar.workers.dev/ (Captured 2026-08-11)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실제 배포 대시보드를 데스크톱과 모바일 폭으로 함께 캡처한 반응형 화면.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https://er-radar.er-radar.workers.dev/ (Captured 2026-08-11)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범위·단계 오분류 방지 규칙과 추적 회사 확장 구조.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primary-union-scope-review Skill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배포·자동화·저장 계층과 적재 행 수.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docs/data-pipeline.md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DB 기반 운영 성과와 확장 방향.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docs/인수인계-2026-08-11.md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docs/data-pipeline.md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마감 슬라이드.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/Users/frypaneggnaver.com/Downloads/2026_조직건강도_AI_Agent_수행결과(최종).pptx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c51eb857b49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1909be377941f5" /><Relationship Type="http://schemas.openxmlformats.org/officeDocument/2006/relationships/image" Target="/ppt/media/image.jpeg" Id="R6be0408a44984e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e882927bc14923" /><Relationship Type="http://schemas.openxmlformats.org/officeDocument/2006/relationships/image" Target="/ppt/media/image2.jpeg" Id="Rde73c723b2e4470b" /><Relationship Type="http://schemas.openxmlformats.org/officeDocument/2006/relationships/image" Target="/ppt/media/image.png" Id="R092743e2bfbd4a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246da082134888" /><Relationship Type="http://schemas.openxmlformats.org/officeDocument/2006/relationships/image" Target="/ppt/media/image2.jpeg" Id="Rfc4ac87fdd964724" /><Relationship Type="http://schemas.openxmlformats.org/officeDocument/2006/relationships/image" Target="/ppt/media/image2.png" Id="R6e63781884c74c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436feefa7d4322" /><Relationship Type="http://schemas.openxmlformats.org/officeDocument/2006/relationships/image" Target="/ppt/media/image2.png" Id="Rd9ddd1d7cf824e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28b548329f41fa" /><Relationship Type="http://schemas.openxmlformats.org/officeDocument/2006/relationships/image" Target="/ppt/media/image2.png" Id="Rcd2150c7ab4c47e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6bfcde82f544a3" /><Relationship Type="http://schemas.openxmlformats.org/officeDocument/2006/relationships/image" Target="/ppt/media/image2.png" Id="R45d7a574bf4841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ad15868e2d42c3" /><Relationship Type="http://schemas.openxmlformats.org/officeDocument/2006/relationships/image" Target="/ppt/media/image3.png" Id="R415dd156f7ec4093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제목 슬라이드" type="title">
  <p:cSld name="TITLE">
    <p:bg>
      <p:bgPr>
        <a:blipFill xmlns:a="http://schemas.openxmlformats.org/drawingml/2006/main">
          <a:blip xmlns:r="http://schemas.openxmlformats.org/officeDocument/2006/relationships" r:embed="R6be0408a44984e2a">
            <a:alphaModFix amt="75000"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g3f99736c1cc_0_77">
            <a:extLst xmlns:a="http://schemas.openxmlformats.org/drawingml/2006/main">
              <a:ext uri="{FF2B5EF4-FFF2-40B4-BE49-F238E27FC236}">
                <a16:creationId xmlns:a16="http://schemas.microsoft.com/office/drawing/2014/main" id="{7D887BAC-0C6E-4E03-B835-195C511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8" y="387350"/>
            <a:ext cx="413400" cy="3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9" name="Google Shape;19;g3f99736c1cc_0_77">
            <a:extLst xmlns:a="http://schemas.openxmlformats.org/drawingml/2006/main">
              <a:ext uri="{FF2B5EF4-FFF2-40B4-BE49-F238E27FC236}">
                <a16:creationId xmlns:a16="http://schemas.microsoft.com/office/drawing/2014/main" id="{9DB5B113-ACDA-4EAC-BADA-50EE585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9" y="423571"/>
            <a:ext cx="1146600" cy="17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" name="Google Shape;20;g3f99736c1cc_0_77">
            <a:extLst xmlns:a="http://schemas.openxmlformats.org/drawingml/2006/main">
              <a:ext uri="{FF2B5EF4-FFF2-40B4-BE49-F238E27FC236}">
                <a16:creationId xmlns:a16="http://schemas.microsoft.com/office/drawing/2014/main" id="{27E5BFC5-99DD-4B65-8C4D-671E2EA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13" y="619978"/>
            <a:ext cx="1146600" cy="1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1" name="Google Shape;21;g3f99736c1cc_0_77">
            <a:extLst xmlns:a="http://schemas.openxmlformats.org/drawingml/2006/main">
              <a:ext uri="{FF2B5EF4-FFF2-40B4-BE49-F238E27FC236}">
                <a16:creationId xmlns:a16="http://schemas.microsoft.com/office/drawing/2014/main" id="{53597B22-8D11-44CF-8E3C-151E20307C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71813" y="1855385"/>
            <a:ext cx="91446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g3f99736c1cc_0_77">
            <a:extLst xmlns:a="http://schemas.openxmlformats.org/drawingml/2006/main">
              <a:ext uri="{FF2B5EF4-FFF2-40B4-BE49-F238E27FC236}">
                <a16:creationId xmlns:a16="http://schemas.microsoft.com/office/drawing/2014/main" id="{39EBA9FB-20D5-457F-85F4-28EA696F5E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71812" y="3430624"/>
            <a:ext cx="9144600" cy="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빈 화면">
  <p:cSld name="빈 화면">
    <p:bg>
      <p:bgPr>
        <a:blipFill xmlns:a="http://schemas.openxmlformats.org/drawingml/2006/main">
          <a:blip xmlns:r="http://schemas.openxmlformats.org/officeDocument/2006/relationships" r:embed="Rde73c723b2e4470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g3f99736c1cc_0_83">
            <a:extLst xmlns:a="http://schemas.openxmlformats.org/drawingml/2006/main">
              <a:ext uri="{FF2B5EF4-FFF2-40B4-BE49-F238E27FC236}">
                <a16:creationId xmlns:a16="http://schemas.microsoft.com/office/drawing/2014/main" id="{B873B0B6-854B-4227-B8CD-5976A67607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g3f99736c1cc_0_83">
            <a:extLst xmlns:a="http://schemas.openxmlformats.org/drawingml/2006/main">
              <a:ext uri="{FF2B5EF4-FFF2-40B4-BE49-F238E27FC236}">
                <a16:creationId xmlns:a16="http://schemas.microsoft.com/office/drawing/2014/main" id="{60603634-0E07-4FC6-8579-1EDD55400F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868" y="6356350"/>
            <a:ext cx="4114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g3f99736c1cc_0_83">
            <a:extLst xmlns:a="http://schemas.openxmlformats.org/drawingml/2006/main">
              <a:ext uri="{FF2B5EF4-FFF2-40B4-BE49-F238E27FC236}">
                <a16:creationId xmlns:a16="http://schemas.microsoft.com/office/drawing/2014/main" id="{2D981EE5-1D1C-49F6-866C-7712AD94B0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273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3" name="Google Shape;27;g3f99736c1cc_0_8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2743e2bfbd4a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797" y="393167"/>
            <a:ext cx="1642034" cy="3566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" name="Google Shape;28;g3f99736c1cc_0_83">
            <a:extLst xmlns:a="http://schemas.openxmlformats.org/drawingml/2006/main">
              <a:ext uri="{FF2B5EF4-FFF2-40B4-BE49-F238E27FC236}">
                <a16:creationId xmlns:a16="http://schemas.microsoft.com/office/drawing/2014/main" id="{EBB1BB85-2355-437F-9601-D1F217709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091" y="2766218"/>
            <a:ext cx="105159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제목만" type="titleOnly">
  <p:cSld name="TITLE_ONLY">
    <p:bg>
      <p:bgPr>
        <a:blipFill xmlns:a="http://schemas.openxmlformats.org/drawingml/2006/main">
          <a:blip xmlns:r="http://schemas.openxmlformats.org/officeDocument/2006/relationships" r:embed="Rfc4ac87fdd964724">
            <a:alphaModFix amt="80000"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g3f99736c1cc_0_89">
            <a:extLst xmlns:a="http://schemas.openxmlformats.org/drawingml/2006/main">
              <a:ext uri="{FF2B5EF4-FFF2-40B4-BE49-F238E27FC236}">
                <a16:creationId xmlns:a16="http://schemas.microsoft.com/office/drawing/2014/main" id="{F8A6BAE9-41A3-473A-B59F-3D97C814F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6279" y="1147572"/>
            <a:ext cx="9861600" cy="5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g3f99736c1cc_0_89">
            <a:extLst xmlns:a="http://schemas.openxmlformats.org/drawingml/2006/main">
              <a:ext uri="{FF2B5EF4-FFF2-40B4-BE49-F238E27FC236}">
                <a16:creationId xmlns:a16="http://schemas.microsoft.com/office/drawing/2014/main" id="{FE40930F-2771-4C44-B0B5-D09B145CA3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g3f99736c1cc_0_89">
            <a:extLst xmlns:a="http://schemas.openxmlformats.org/drawingml/2006/main">
              <a:ext uri="{FF2B5EF4-FFF2-40B4-BE49-F238E27FC236}">
                <a16:creationId xmlns:a16="http://schemas.microsoft.com/office/drawing/2014/main" id="{26BCA0F3-8956-48DB-BC2C-59455B4E2D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868" y="6356350"/>
            <a:ext cx="4114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g3f99736c1cc_0_89">
            <a:extLst xmlns:a="http://schemas.openxmlformats.org/drawingml/2006/main">
              <a:ext uri="{FF2B5EF4-FFF2-40B4-BE49-F238E27FC236}">
                <a16:creationId xmlns:a16="http://schemas.microsoft.com/office/drawing/2014/main" id="{A202470A-2949-49F9-9F79-0DF429B1EB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273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1" name="Google Shape;34;g3f99736c1cc_0_8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63781884c74c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1046" y="1223963"/>
            <a:ext cx="342898" cy="3936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Google Shape;35;g3f99736c1cc_0_89">
            <a:extLst xmlns:a="http://schemas.openxmlformats.org/drawingml/2006/main">
              <a:ext uri="{FF2B5EF4-FFF2-40B4-BE49-F238E27FC236}">
                <a16:creationId xmlns:a16="http://schemas.microsoft.com/office/drawing/2014/main" id="{322AFE5F-61AF-4427-8690-240C19B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7" y="317500"/>
            <a:ext cx="3740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‘26-2차 포스코그룹 AI활용전문가 과정</a:t>
            </a:r>
            <a:endParaRPr sz="1600" b="0" i="0" u="none" cap="none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_제목만">
  <p:cSld name="3_제목만"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g3f99736c1cc_0_96">
            <a:extLst xmlns:a="http://schemas.openxmlformats.org/drawingml/2006/main">
              <a:ext uri="{FF2B5EF4-FFF2-40B4-BE49-F238E27FC236}">
                <a16:creationId xmlns:a16="http://schemas.microsoft.com/office/drawing/2014/main" id="{9E768FA2-FE75-4753-AAB9-4C8B4BD49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6279" y="1147572"/>
            <a:ext cx="9861600" cy="5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g3f99736c1cc_0_96">
            <a:extLst xmlns:a="http://schemas.openxmlformats.org/drawingml/2006/main">
              <a:ext uri="{FF2B5EF4-FFF2-40B4-BE49-F238E27FC236}">
                <a16:creationId xmlns:a16="http://schemas.microsoft.com/office/drawing/2014/main" id="{946099B0-771A-41F0-9639-6ACC0FA9AB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g3f99736c1cc_0_96">
            <a:extLst xmlns:a="http://schemas.openxmlformats.org/drawingml/2006/main">
              <a:ext uri="{FF2B5EF4-FFF2-40B4-BE49-F238E27FC236}">
                <a16:creationId xmlns:a16="http://schemas.microsoft.com/office/drawing/2014/main" id="{6195802A-FCA0-40EC-A943-19E76ADA86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868" y="6356350"/>
            <a:ext cx="4114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g3f99736c1cc_0_96">
            <a:extLst xmlns:a="http://schemas.openxmlformats.org/drawingml/2006/main">
              <a:ext uri="{FF2B5EF4-FFF2-40B4-BE49-F238E27FC236}">
                <a16:creationId xmlns:a16="http://schemas.microsoft.com/office/drawing/2014/main" id="{216B474D-6AB7-4AE2-9365-3E4F8EE3B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273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1" name="Google Shape;41;g3f99736c1cc_0_96">
            <a:extLst xmlns:a="http://schemas.openxmlformats.org/drawingml/2006/main">
              <a:ext uri="{FF2B5EF4-FFF2-40B4-BE49-F238E27FC236}">
                <a16:creationId xmlns:a16="http://schemas.microsoft.com/office/drawing/2014/main" id="{11979462-3D47-4D26-BC12-9381FFD31E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66279" y="1819421"/>
            <a:ext cx="57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</a:defRPr>
            </a:lvl1pPr>
            <a:lvl2pPr marL="914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2pPr>
            <a:lvl3pPr marL="1371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marL="22860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5pPr>
            <a:lvl6pPr marL="27432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50" name="Google Shape;42;g3f99736c1cc_0_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ddd1d7cf824e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1046" y="1223963"/>
            <a:ext cx="342898" cy="3936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g3f99736c1cc_0_96">
            <a:extLst xmlns:a="http://schemas.openxmlformats.org/drawingml/2006/main">
              <a:ext uri="{FF2B5EF4-FFF2-40B4-BE49-F238E27FC236}">
                <a16:creationId xmlns:a16="http://schemas.microsoft.com/office/drawing/2014/main" id="{5A35BF64-3645-4729-B4C0-9A0F588F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7" y="317500"/>
            <a:ext cx="3740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‘26-2차 포스코그룹 AI활용전문가 과정</a:t>
            </a:r>
            <a:endParaRPr sz="1600" b="0" i="0" u="none" cap="none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5_제목만">
  <p:cSld name="5_제목만"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g3f99736c1cc_0_104">
            <a:extLst xmlns:a="http://schemas.openxmlformats.org/drawingml/2006/main">
              <a:ext uri="{FF2B5EF4-FFF2-40B4-BE49-F238E27FC236}">
                <a16:creationId xmlns:a16="http://schemas.microsoft.com/office/drawing/2014/main" id="{1E3A972E-EE2E-4F28-9450-616EC2A35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6279" y="1147572"/>
            <a:ext cx="9861600" cy="5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46" name="Google Shape;46;g3f99736c1cc_0_104">
            <a:extLst xmlns:a="http://schemas.openxmlformats.org/drawingml/2006/main">
              <a:ext uri="{FF2B5EF4-FFF2-40B4-BE49-F238E27FC236}">
                <a16:creationId xmlns:a16="http://schemas.microsoft.com/office/drawing/2014/main" id="{CB787940-7422-4E74-A3EC-4705449616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g3f99736c1cc_0_104">
            <a:extLst xmlns:a="http://schemas.openxmlformats.org/drawingml/2006/main">
              <a:ext uri="{FF2B5EF4-FFF2-40B4-BE49-F238E27FC236}">
                <a16:creationId xmlns:a16="http://schemas.microsoft.com/office/drawing/2014/main" id="{EE12273C-1F9F-4EC8-A675-F1D3B28764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868" y="6356350"/>
            <a:ext cx="4114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g3f99736c1cc_0_104">
            <a:extLst xmlns:a="http://schemas.openxmlformats.org/drawingml/2006/main">
              <a:ext uri="{FF2B5EF4-FFF2-40B4-BE49-F238E27FC236}">
                <a16:creationId xmlns:a16="http://schemas.microsoft.com/office/drawing/2014/main" id="{71AE0D47-D907-4C1F-8BF9-F3F7530AE8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273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9" name="Google Shape;49;g3f99736c1cc_0_104">
            <a:extLst xmlns:a="http://schemas.openxmlformats.org/drawingml/2006/main">
              <a:ext uri="{FF2B5EF4-FFF2-40B4-BE49-F238E27FC236}">
                <a16:creationId xmlns:a16="http://schemas.microsoft.com/office/drawing/2014/main" id="{FD27FEE4-F4B1-4E02-911A-98A9F4A7B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66279" y="1819421"/>
            <a:ext cx="9861600" cy="41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t">
            <a:normAutofit/>
          </a:bodyPr>
          <a:lstStyle xmlns:a="http://schemas.openxmlformats.org/drawingml/2006/main">
            <a:lvl1pPr marL="457200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</a:defRPr>
            </a:lvl1pPr>
            <a:lvl2pPr marL="914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2pPr>
            <a:lvl3pPr marL="1371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marL="22860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5pPr>
            <a:lvl6pPr marL="27432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58" name="Google Shape;50;g3f99736c1cc_0_10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2150c7ab4c47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1046" y="1223963"/>
            <a:ext cx="342898" cy="3936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" name="Google Shape;51;g3f99736c1cc_0_104">
            <a:extLst xmlns:a="http://schemas.openxmlformats.org/drawingml/2006/main">
              <a:ext uri="{FF2B5EF4-FFF2-40B4-BE49-F238E27FC236}">
                <a16:creationId xmlns:a16="http://schemas.microsoft.com/office/drawing/2014/main" id="{A491B185-B2F2-4CF9-A3F8-0314E111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7" y="317500"/>
            <a:ext cx="3740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‘26-2차 포스코그룹 AI활용전문가 과정</a:t>
            </a:r>
            <a:endParaRPr sz="1600" b="0" i="0" u="none" cap="none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7_제목만">
  <p:cSld name="7_제목만"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g3f99736c1cc_0_112">
            <a:extLst xmlns:a="http://schemas.openxmlformats.org/drawingml/2006/main">
              <a:ext uri="{FF2B5EF4-FFF2-40B4-BE49-F238E27FC236}">
                <a16:creationId xmlns:a16="http://schemas.microsoft.com/office/drawing/2014/main" id="{02011A4B-50EF-4C0C-81D1-5DA7F1CB1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81046" y="2188351"/>
            <a:ext cx="3258000" cy="5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g3f99736c1cc_0_112">
            <a:extLst xmlns:a="http://schemas.openxmlformats.org/drawingml/2006/main">
              <a:ext uri="{FF2B5EF4-FFF2-40B4-BE49-F238E27FC236}">
                <a16:creationId xmlns:a16="http://schemas.microsoft.com/office/drawing/2014/main" id="{85C8B78A-8153-4356-8365-A22CDB08B0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55" name="Google Shape;55;g3f99736c1cc_0_112">
            <a:extLst xmlns:a="http://schemas.openxmlformats.org/drawingml/2006/main">
              <a:ext uri="{FF2B5EF4-FFF2-40B4-BE49-F238E27FC236}">
                <a16:creationId xmlns:a16="http://schemas.microsoft.com/office/drawing/2014/main" id="{ABCA04F6-9133-40AB-B6EF-CAB0E89115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868" y="6356350"/>
            <a:ext cx="4114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g3f99736c1cc_0_112">
            <a:extLst xmlns:a="http://schemas.openxmlformats.org/drawingml/2006/main">
              <a:ext uri="{FF2B5EF4-FFF2-40B4-BE49-F238E27FC236}">
                <a16:creationId xmlns:a16="http://schemas.microsoft.com/office/drawing/2014/main" id="{F1BE558F-98D3-479B-AFEC-3D4D1D3C2B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273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7" name="Google Shape;57;g3f99736c1cc_0_112">
            <a:extLst xmlns:a="http://schemas.openxmlformats.org/drawingml/2006/main">
              <a:ext uri="{FF2B5EF4-FFF2-40B4-BE49-F238E27FC236}">
                <a16:creationId xmlns:a16="http://schemas.microsoft.com/office/drawing/2014/main" id="{89086648-A6F7-437E-A6E0-612448691F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81046" y="2860200"/>
            <a:ext cx="32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</a:defRPr>
            </a:lvl1pPr>
            <a:lvl2pPr marL="914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2pPr>
            <a:lvl3pPr marL="1371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marL="22860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5pPr>
            <a:lvl6pPr marL="27432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66" name="Google Shape;58;g3f99736c1cc_0_1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d7a574bf4841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1046" y="1223963"/>
            <a:ext cx="342898" cy="3936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" name="Google Shape;59;g3f99736c1cc_0_112">
            <a:extLst xmlns:a="http://schemas.openxmlformats.org/drawingml/2006/main">
              <a:ext uri="{FF2B5EF4-FFF2-40B4-BE49-F238E27FC236}">
                <a16:creationId xmlns:a16="http://schemas.microsoft.com/office/drawing/2014/main" id="{A96020F5-8D4F-4C74-956F-991DE642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7" y="317500"/>
            <a:ext cx="3740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‘26-2차 포스코그룹 AI활용전문가 과정</a:t>
            </a:r>
            <a:endParaRPr sz="1600" b="0" i="0" u="none" cap="none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4_제목만">
  <p:cSld name="4_제목만"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g3f99736c1cc_0_120">
            <a:extLst xmlns:a="http://schemas.openxmlformats.org/drawingml/2006/main">
              <a:ext uri="{FF2B5EF4-FFF2-40B4-BE49-F238E27FC236}">
                <a16:creationId xmlns:a16="http://schemas.microsoft.com/office/drawing/2014/main" id="{8DA19A09-BDB0-43A6-B462-1901CE14F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6279" y="1147572"/>
            <a:ext cx="9861600" cy="5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g3f99736c1cc_0_120">
            <a:extLst xmlns:a="http://schemas.openxmlformats.org/drawingml/2006/main">
              <a:ext uri="{FF2B5EF4-FFF2-40B4-BE49-F238E27FC236}">
                <a16:creationId xmlns:a16="http://schemas.microsoft.com/office/drawing/2014/main" id="{E778EB89-5054-4DBE-8CF6-6C6BBD35DC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g3f99736c1cc_0_120">
            <a:extLst xmlns:a="http://schemas.openxmlformats.org/drawingml/2006/main">
              <a:ext uri="{FF2B5EF4-FFF2-40B4-BE49-F238E27FC236}">
                <a16:creationId xmlns:a16="http://schemas.microsoft.com/office/drawing/2014/main" id="{D7C6A5EB-1F8C-459D-B54D-7F3F07E8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868" y="6356350"/>
            <a:ext cx="4114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g3f99736c1cc_0_120">
            <a:extLst xmlns:a="http://schemas.openxmlformats.org/drawingml/2006/main">
              <a:ext uri="{FF2B5EF4-FFF2-40B4-BE49-F238E27FC236}">
                <a16:creationId xmlns:a16="http://schemas.microsoft.com/office/drawing/2014/main" id="{55C39772-7DB9-4825-8594-9FC87CE0A4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273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5" name="Google Shape;65;g3f99736c1cc_0_120">
            <a:extLst xmlns:a="http://schemas.openxmlformats.org/drawingml/2006/main">
              <a:ext uri="{FF2B5EF4-FFF2-40B4-BE49-F238E27FC236}">
                <a16:creationId xmlns:a16="http://schemas.microsoft.com/office/drawing/2014/main" id="{6DE86ECC-4015-4163-B77E-67475DAB4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66279" y="1730930"/>
            <a:ext cx="57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</a:defRPr>
            </a:lvl1pPr>
            <a:lvl2pPr marL="914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2pPr>
            <a:lvl3pPr marL="1371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marL="22860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5pPr>
            <a:lvl6pPr marL="27432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74" name="Google Shape;66;g3f99736c1cc_0_1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5dd156f7ec40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1046" y="1223963"/>
            <a:ext cx="342898" cy="3936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7" name="Google Shape;67;g3f99736c1cc_0_120">
            <a:extLst xmlns:a="http://schemas.openxmlformats.org/drawingml/2006/main">
              <a:ext uri="{FF2B5EF4-FFF2-40B4-BE49-F238E27FC236}">
                <a16:creationId xmlns:a16="http://schemas.microsoft.com/office/drawing/2014/main" id="{93099268-B98C-437C-BEDE-0AC3176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7" y="317500"/>
            <a:ext cx="3740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‘26-2차 포스코그룹 AI활용전문가 과정</a:t>
            </a:r>
            <a:endParaRPr sz="1600" b="0" i="0" u="none" cap="none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a782d92e714952" /><Relationship Type="http://schemas.openxmlformats.org/officeDocument/2006/relationships/slideLayout" Target="/ppt/slideLayouts/slideLayout1.xml" Id="Ra53730f42e74438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8c147c8b7654e61" /><Relationship Type="http://schemas.openxmlformats.org/officeDocument/2006/relationships/slideLayout" Target="/ppt/slideLayouts/slideLayout2.xml" Id="R0dc8d571e4214e3e" /><Relationship Type="http://schemas.openxmlformats.org/officeDocument/2006/relationships/slideLayout" Target="/ppt/slideLayouts/slideLayout3.xml" Id="R1850580bd1f04016" /><Relationship Type="http://schemas.openxmlformats.org/officeDocument/2006/relationships/slideLayout" Target="/ppt/slideLayouts/slideLayout4.xml" Id="R00a730ad23c04543" /><Relationship Type="http://schemas.openxmlformats.org/officeDocument/2006/relationships/slideLayout" Target="/ppt/slideLayouts/slideLayout5.xml" Id="Rab400943c0e542b4" /><Relationship Type="http://schemas.openxmlformats.org/officeDocument/2006/relationships/slideLayout" Target="/ppt/slideLayouts/slideLayout6.xml" Id="Rece4a86fdc1a4f97" /><Relationship Type="http://schemas.openxmlformats.org/officeDocument/2006/relationships/slideLayout" Target="/ppt/slideLayouts/slideLayout7.xml" Id="R3f0731fa75c24828" /><Relationship Type="http://schemas.openxmlformats.org/officeDocument/2006/relationships/slideLayout" Target="/ppt/slideLayouts/slideLayout8.xml" Id="Reb7af1c4a5ac444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3730f42e74438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g3f99736c1cc_0_71">
            <a:extLst xmlns:a="http://schemas.openxmlformats.org/drawingml/2006/main">
              <a:ext uri="{FF2B5EF4-FFF2-40B4-BE49-F238E27FC236}">
                <a16:creationId xmlns:a16="http://schemas.microsoft.com/office/drawing/2014/main" id="{13EAE29F-5A67-465E-9E97-4C84FE2A3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091" y="365125"/>
            <a:ext cx="105159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None/>
              <a:defRPr sz="22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3" name="Google Shape;13;g3f99736c1cc_0_71">
            <a:extLst xmlns:a="http://schemas.openxmlformats.org/drawingml/2006/main">
              <a:ext uri="{FF2B5EF4-FFF2-40B4-BE49-F238E27FC236}">
                <a16:creationId xmlns:a16="http://schemas.microsoft.com/office/drawing/2014/main" id="{D72CC19D-D017-42CD-A265-92171ECDA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091" y="1825625"/>
            <a:ext cx="10515900" cy="435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t">
            <a:normAutofit/>
          </a:bodyPr>
          <a:lstStyle xmlns:a="http://schemas.openxmlformats.org/drawingml/2006/main">
            <a:lvl1pPr marL="457200" marR="0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marR="0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marR="0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marR="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marR="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marR="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marR="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marR="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marR="0" indent="-2857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/>
        </p:txBody>
      </p:sp>
      <p:sp>
        <p:nvSpPr>
          <p:cNvPr id="14" name="Google Shape;14;g3f99736c1cc_0_71">
            <a:extLst xmlns:a="http://schemas.openxmlformats.org/drawingml/2006/main">
              <a:ext uri="{FF2B5EF4-FFF2-40B4-BE49-F238E27FC236}">
                <a16:creationId xmlns:a16="http://schemas.microsoft.com/office/drawing/2014/main" id="{0843EB21-71D3-429D-9F80-DCA518D07D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/>
        </p:txBody>
      </p:sp>
      <p:sp>
        <p:nvSpPr>
          <p:cNvPr id="15" name="Google Shape;15;g3f99736c1cc_0_71">
            <a:extLst xmlns:a="http://schemas.openxmlformats.org/drawingml/2006/main">
              <a:ext uri="{FF2B5EF4-FFF2-40B4-BE49-F238E27FC236}">
                <a16:creationId xmlns:a16="http://schemas.microsoft.com/office/drawing/2014/main" id="{7BDCA6CD-3D76-4F37-BA96-9A754538A2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868" y="6356350"/>
            <a:ext cx="4114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/>
        </p:txBody>
      </p:sp>
      <p:sp>
        <p:nvSpPr>
          <p:cNvPr id="16" name="Google Shape;16;g3f99736c1cc_0_71">
            <a:extLst xmlns:a="http://schemas.openxmlformats.org/drawingml/2006/main">
              <a:ext uri="{FF2B5EF4-FFF2-40B4-BE49-F238E27FC236}">
                <a16:creationId xmlns:a16="http://schemas.microsoft.com/office/drawing/2014/main" id="{18896F36-A933-4AE3-8837-5EF3F578D3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273" y="6356350"/>
            <a:ext cx="27435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dc8d571e4214e3e"/>
    <p:sldLayoutId xmlns:r="http://schemas.openxmlformats.org/officeDocument/2006/relationships" id="2147483652" r:id="R1850580bd1f04016"/>
    <p:sldLayoutId xmlns:r="http://schemas.openxmlformats.org/officeDocument/2006/relationships" id="2147483653" r:id="R00a730ad23c04543"/>
    <p:sldLayoutId xmlns:r="http://schemas.openxmlformats.org/officeDocument/2006/relationships" id="2147483654" r:id="Rab400943c0e542b4"/>
    <p:sldLayoutId xmlns:r="http://schemas.openxmlformats.org/officeDocument/2006/relationships" id="2147483655" r:id="Rece4a86fdc1a4f97"/>
    <p:sldLayoutId xmlns:r="http://schemas.openxmlformats.org/officeDocument/2006/relationships" id="2147483656" r:id="R3f0731fa75c24828"/>
    <p:sldLayoutId xmlns:r="http://schemas.openxmlformats.org/officeDocument/2006/relationships" id="2147483657" r:id="Reb7af1c4a5ac444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디자인 사용자 지정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325dfd6e84184" /><Relationship Type="http://schemas.openxmlformats.org/officeDocument/2006/relationships/image" Target="/ppt/media/image.jpeg" Id="Ra0f7bc63c4ad42dd" /><Relationship Type="http://schemas.openxmlformats.org/officeDocument/2006/relationships/image" Target="/ppt/media/image4.png" Id="R2a3ffaef82c349cf" /><Relationship Type="http://schemas.openxmlformats.org/officeDocument/2006/relationships/image" Target="/ppt/media/image5.png" Id="R4154c9d6756e4bd8" /><Relationship Type="http://schemas.openxmlformats.org/officeDocument/2006/relationships/image" Target="/ppt/media/image6.png" Id="Re0b5319aa17c4090" /><Relationship Type="http://schemas.openxmlformats.org/officeDocument/2006/relationships/notesSlide" Target="/ppt/notesSlides/notesSlide1.xml" Id="R496dd6cdf7ea45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b567416c541a7" /><Relationship Type="http://schemas.openxmlformats.org/officeDocument/2006/relationships/image" Target="/ppt/media/image4.png" Id="Ra9c697d655384b8e" /><Relationship Type="http://schemas.openxmlformats.org/officeDocument/2006/relationships/image" Target="/ppt/media/image5.png" Id="Rb6bb53dcf3864350" /><Relationship Type="http://schemas.openxmlformats.org/officeDocument/2006/relationships/image" Target="/ppt/media/image6.png" Id="Red1029a43f624cbf" /><Relationship Type="http://schemas.openxmlformats.org/officeDocument/2006/relationships/notesSlide" Target="/ppt/notesSlides/notesSlide2.xml" Id="R0eca8aa64186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eb33e62534c77" /><Relationship Type="http://schemas.openxmlformats.org/officeDocument/2006/relationships/image" Target="/ppt/media/image4.png" Id="Raed28ac8edba4587" /><Relationship Type="http://schemas.openxmlformats.org/officeDocument/2006/relationships/image" Target="/ppt/media/image5.png" Id="R3d4b0694ed194ecd" /><Relationship Type="http://schemas.openxmlformats.org/officeDocument/2006/relationships/image" Target="/ppt/media/image6.png" Id="R0888fe41beb14677" /><Relationship Type="http://schemas.openxmlformats.org/officeDocument/2006/relationships/notesSlide" Target="/ppt/notesSlides/notesSlide3.xml" Id="R8b5d8feb492247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f9968ecef4166" /><Relationship Type="http://schemas.openxmlformats.org/officeDocument/2006/relationships/image" Target="/ppt/media/image4.png" Id="R67c8316f311e4e6f" /><Relationship Type="http://schemas.openxmlformats.org/officeDocument/2006/relationships/image" Target="/ppt/media/image5.png" Id="Rd030289a03d44b1b" /><Relationship Type="http://schemas.openxmlformats.org/officeDocument/2006/relationships/image" Target="/ppt/media/image6.png" Id="Rc5a5f67b6f594b02" /><Relationship Type="http://schemas.openxmlformats.org/officeDocument/2006/relationships/notesSlide" Target="/ppt/notesSlides/notesSlide4.xml" Id="R51d09ab5574941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00c64b8c64b64" /><Relationship Type="http://schemas.openxmlformats.org/officeDocument/2006/relationships/image" Target="/ppt/media/image3.jpeg" Id="Rc1ed8f04405541b6" /><Relationship Type="http://schemas.openxmlformats.org/officeDocument/2006/relationships/image" Target="/ppt/media/image4.png" Id="R20c5fd84edaf4623" /><Relationship Type="http://schemas.openxmlformats.org/officeDocument/2006/relationships/image" Target="/ppt/media/image5.png" Id="R9445b4cfda9a40ed" /><Relationship Type="http://schemas.openxmlformats.org/officeDocument/2006/relationships/image" Target="/ppt/media/image6.png" Id="R8f05843b630e48ac" /><Relationship Type="http://schemas.openxmlformats.org/officeDocument/2006/relationships/notesSlide" Target="/ppt/notesSlides/notesSlide5.xml" Id="R50c6069c0271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86b04dc664141" /><Relationship Type="http://schemas.openxmlformats.org/officeDocument/2006/relationships/image" Target="/ppt/media/image4.jpeg" Id="R628795fce33140ca" /><Relationship Type="http://schemas.openxmlformats.org/officeDocument/2006/relationships/image" Target="/ppt/media/image4.png" Id="Rddbefa89509e4db8" /><Relationship Type="http://schemas.openxmlformats.org/officeDocument/2006/relationships/image" Target="/ppt/media/image5.png" Id="R728dfdf839a44156" /><Relationship Type="http://schemas.openxmlformats.org/officeDocument/2006/relationships/image" Target="/ppt/media/image6.png" Id="R97a72b8d80d74b70" /><Relationship Type="http://schemas.openxmlformats.org/officeDocument/2006/relationships/notesSlide" Target="/ppt/notesSlides/notesSlide6.xml" Id="R758250bade2248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fb95e1cf74794" /><Relationship Type="http://schemas.openxmlformats.org/officeDocument/2006/relationships/image" Target="/ppt/media/image5.jpeg" Id="R07c8aec0f55f46c1" /><Relationship Type="http://schemas.openxmlformats.org/officeDocument/2006/relationships/image" Target="/ppt/media/image4.png" Id="R1e9bad68d6ee485e" /><Relationship Type="http://schemas.openxmlformats.org/officeDocument/2006/relationships/image" Target="/ppt/media/image5.png" Id="Ref40e38c42604b29" /><Relationship Type="http://schemas.openxmlformats.org/officeDocument/2006/relationships/image" Target="/ppt/media/image6.png" Id="R3aab231615e3419d" /><Relationship Type="http://schemas.openxmlformats.org/officeDocument/2006/relationships/notesSlide" Target="/ppt/notesSlides/notesSlide7.xml" Id="Rdadbfa7a2b19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c8af464794352" /><Relationship Type="http://schemas.openxmlformats.org/officeDocument/2006/relationships/image" Target="/ppt/media/image4.png" Id="Rb36af2ab850b4000" /><Relationship Type="http://schemas.openxmlformats.org/officeDocument/2006/relationships/image" Target="/ppt/media/image5.png" Id="R8bc49754c64e41f6" /><Relationship Type="http://schemas.openxmlformats.org/officeDocument/2006/relationships/image" Target="/ppt/media/image6.png" Id="R31d619252d314973" /><Relationship Type="http://schemas.openxmlformats.org/officeDocument/2006/relationships/image" Target="/ppt/media/image6.jpeg" Id="R1673e6a013c94e77" /><Relationship Type="http://schemas.openxmlformats.org/officeDocument/2006/relationships/notesSlide" Target="/ppt/notesSlides/notesSlide8.xml" Id="R975d221e4cd148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cdb1b1c97407f" /><Relationship Type="http://schemas.openxmlformats.org/officeDocument/2006/relationships/image" Target="/ppt/media/image4.png" Id="Re3d71f92890e43d1" /><Relationship Type="http://schemas.openxmlformats.org/officeDocument/2006/relationships/image" Target="/ppt/media/image5.png" Id="R1fbcbf2775a54e7f" /><Relationship Type="http://schemas.openxmlformats.org/officeDocument/2006/relationships/image" Target="/ppt/media/image6.png" Id="Rdf3bdb35a31e4df2" /><Relationship Type="http://schemas.openxmlformats.org/officeDocument/2006/relationships/notesSlide" Target="/ppt/notesSlides/notesSlide9.xml" Id="R058cc48de71740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5f144eeb84307" /><Relationship Type="http://schemas.openxmlformats.org/officeDocument/2006/relationships/image" Target="/ppt/media/image4.png" Id="R8948afd5c8164117" /><Relationship Type="http://schemas.openxmlformats.org/officeDocument/2006/relationships/image" Target="/ppt/media/image5.png" Id="Rd69d0cf005364f36" /><Relationship Type="http://schemas.openxmlformats.org/officeDocument/2006/relationships/image" Target="/ppt/media/image6.png" Id="Rd6b714ac9f6b4701" /><Relationship Type="http://schemas.openxmlformats.org/officeDocument/2006/relationships/notesSlide" Target="/ppt/notesSlides/notesSlide10.xml" Id="R4ed7d394e60042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719da8ab54621" /><Relationship Type="http://schemas.openxmlformats.org/officeDocument/2006/relationships/image" Target="/ppt/media/image4.png" Id="Ra6cf867d659746a6" /><Relationship Type="http://schemas.openxmlformats.org/officeDocument/2006/relationships/image" Target="/ppt/media/image5.png" Id="R3cde3e87788c4f15" /><Relationship Type="http://schemas.openxmlformats.org/officeDocument/2006/relationships/image" Target="/ppt/media/image6.png" Id="Raa8863bc1abd4b44" /><Relationship Type="http://schemas.openxmlformats.org/officeDocument/2006/relationships/notesSlide" Target="/ppt/notesSlides/notesSlide11.xml" Id="Rc5759717ad254a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c9d220d7624e1e" /><Relationship Type="http://schemas.openxmlformats.org/officeDocument/2006/relationships/notesSlide" Target="/ppt/notesSlides/notesSlide12.xml" Id="R9c0fad5d34a6483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0f7bc63c4ad42dd">
            <a:alphaModFix amt="75000"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Google Shape;7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3ffaef82c349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93749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3" name="Google Shape;75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54c9d6756e4b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866642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7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b5319aa17c40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71913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7" name="Google Shape;77;p1">
            <a:extLst xmlns:a="http://schemas.openxmlformats.org/drawingml/2006/main">
              <a:ext uri="{FF2B5EF4-FFF2-40B4-BE49-F238E27FC236}">
                <a16:creationId xmlns:a16="http://schemas.microsoft.com/office/drawing/2014/main" id="{609DFB3D-AD3A-4615-83D9-1FDE29E0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43" y="1295183"/>
            <a:ext cx="9145588" cy="1883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노사교섭 레이더 개발 결과</a:t>
            </a:r>
            <a:endParaRPr/>
          </a:p>
        </p:txBody>
      </p:sp>
      <p:sp>
        <p:nvSpPr>
          <p:cNvPr id="78" name="Google Shape;78;p1">
            <a:extLst xmlns:a="http://schemas.openxmlformats.org/drawingml/2006/main">
              <a:ext uri="{FF2B5EF4-FFF2-40B4-BE49-F238E27FC236}">
                <a16:creationId xmlns:a16="http://schemas.microsoft.com/office/drawing/2014/main" id="{2144AC2B-EC76-4F14-B3FC-9F0F9706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43" y="4479418"/>
            <a:ext cx="6253200" cy="101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2026.08.11</a:t>
            </a:r>
            <a:endParaRPr sz="3000" b="1">
              <a:solidFill>
                <a:srgbClr val="0E2841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프로젝트 소개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0440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2">
            <a:extLst xmlns:a="http://schemas.openxmlformats.org/drawingml/2006/main">
              <a:ext uri="{FF2B5EF4-FFF2-40B4-BE49-F238E27FC236}">
                <a16:creationId xmlns:a16="http://schemas.microsoft.com/office/drawing/2014/main" id="{12F847F6-3270-43D6-81A6-D1C096C8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700" cy="2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2">
            <a:extLst xmlns:a="http://schemas.openxmlformats.org/drawingml/2006/main">
              <a:ext uri="{FF2B5EF4-FFF2-40B4-BE49-F238E27FC236}">
                <a16:creationId xmlns:a16="http://schemas.microsoft.com/office/drawing/2014/main" id="{54B95DF8-81AD-42DC-BB5D-BE2FFE09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흩어진 기사에서 교섭의 맥락을 읽는 검증형 레이더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2">
            <a:extLst xmlns:a="http://schemas.openxmlformats.org/drawingml/2006/main">
              <a:ext uri="{FF2B5EF4-FFF2-40B4-BE49-F238E27FC236}">
                <a16:creationId xmlns:a16="http://schemas.microsoft.com/office/drawing/2014/main" id="{981BEE7E-0A2A-4A36-B9C5-4A5005F8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2">
            <a:extLst xmlns:a="http://schemas.openxmlformats.org/drawingml/2006/main">
              <a:ext uri="{FF2B5EF4-FFF2-40B4-BE49-F238E27FC236}">
                <a16:creationId xmlns:a16="http://schemas.microsoft.com/office/drawing/2014/main" id="{2E4B0B0D-B812-447E-9035-D48455B2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11057839" cy="1298448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2">
            <a:extLst xmlns:a="http://schemas.openxmlformats.org/drawingml/2006/main">
              <a:ext uri="{FF2B5EF4-FFF2-40B4-BE49-F238E27FC236}">
                <a16:creationId xmlns:a16="http://schemas.microsoft.com/office/drawing/2014/main" id="{755BBEA5-9680-4BD4-AA54-2652035F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36192"/>
            <a:ext cx="10472623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sz="15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12개 주요 제조기업의 교섭 뉴스를 매일 수집하고, 원청 직접고용 노조 여부를 먼저 검증한 뒤 주 단계·쟁점·교섭 경과와 원문 근거를 한 화면에서 추적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2">
            <a:extLst xmlns:a="http://schemas.openxmlformats.org/drawingml/2006/main">
              <a:ext uri="{FF2B5EF4-FFF2-40B4-BE49-F238E27FC236}">
                <a16:creationId xmlns:a16="http://schemas.microsoft.com/office/drawing/2014/main" id="{92D8FD3F-75FD-483D-BF4E-DD308A6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5" y="2889499"/>
            <a:ext cx="2517600" cy="20421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Google Shape;90;p2">
            <a:extLst xmlns:a="http://schemas.openxmlformats.org/drawingml/2006/main">
              <a:ext uri="{FF2B5EF4-FFF2-40B4-BE49-F238E27FC236}">
                <a16:creationId xmlns:a16="http://schemas.microsoft.com/office/drawing/2014/main" id="{0CF4C142-BAF7-4515-84CA-E3208D41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22132"/>
            <a:ext cx="206040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4200"/>
              <a:buFont typeface="Malgun Gothic"/>
              <a:buNone/>
            </a:pPr>
            <a:r>
              <a:rPr sz="420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2">
            <a:extLst xmlns:a="http://schemas.openxmlformats.org/drawingml/2006/main">
              <a:ext uri="{FF2B5EF4-FFF2-40B4-BE49-F238E27FC236}">
                <a16:creationId xmlns:a16="http://schemas.microsoft.com/office/drawing/2014/main" id="{32208954-9F8F-46A5-BF43-08BB013C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86" y="3435849"/>
            <a:ext cx="2060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sz="1650" b="1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/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2">
            <a:extLst xmlns:a="http://schemas.openxmlformats.org/drawingml/2006/main">
              <a:ext uri="{FF2B5EF4-FFF2-40B4-BE49-F238E27FC236}">
                <a16:creationId xmlns:a16="http://schemas.microsoft.com/office/drawing/2014/main" id="{B42556B5-A676-43D4-B804-56ECB08D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28" y="4035509"/>
            <a:ext cx="206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12개사 추적 · 원청 노조</a:t>
            </a:r>
            <a:endParaRPr sz="155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2">
            <a:extLst xmlns:a="http://schemas.openxmlformats.org/drawingml/2006/main">
              <a:ext uri="{FF2B5EF4-FFF2-40B4-BE49-F238E27FC236}">
                <a16:creationId xmlns:a16="http://schemas.microsoft.com/office/drawing/2014/main" id="{E2E5876E-9A80-4A84-B7D2-34D05ABD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684" y="2889499"/>
            <a:ext cx="2517600" cy="20421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2">
            <a:extLst xmlns:a="http://schemas.openxmlformats.org/drawingml/2006/main">
              <a:ext uri="{FF2B5EF4-FFF2-40B4-BE49-F238E27FC236}">
                <a16:creationId xmlns:a16="http://schemas.microsoft.com/office/drawing/2014/main" id="{BCA1F323-AE20-4449-9443-4896A4B8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28" y="3122132"/>
            <a:ext cx="206040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4200"/>
              <a:buFont typeface="Malgun Gothic"/>
              <a:buNone/>
            </a:pPr>
            <a:r>
              <a:rPr sz="42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56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2">
            <a:extLst xmlns:a="http://schemas.openxmlformats.org/drawingml/2006/main">
              <a:ext uri="{FF2B5EF4-FFF2-40B4-BE49-F238E27FC236}">
                <a16:creationId xmlns:a16="http://schemas.microsoft.com/office/drawing/2014/main" id="{1467F855-6498-428E-ACFA-BDC2768D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642" y="3435849"/>
            <a:ext cx="2060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sz="1650" b="1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/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2">
            <a:extLst xmlns:a="http://schemas.openxmlformats.org/drawingml/2006/main">
              <a:ext uri="{FF2B5EF4-FFF2-40B4-BE49-F238E27FC236}">
                <a16:creationId xmlns:a16="http://schemas.microsoft.com/office/drawing/2014/main" id="{68EF5EB4-5834-45AB-87F1-3A20DA35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590" y="4017220"/>
            <a:ext cx="23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검증 기록 · 2021–2026</a:t>
            </a:r>
            <a:endParaRPr sz="155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과거 44건 · 현재 12건</a:t>
            </a:r>
            <a:endParaRPr sz="155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2">
            <a:extLst xmlns:a="http://schemas.openxmlformats.org/drawingml/2006/main">
              <a:ext uri="{FF2B5EF4-FFF2-40B4-BE49-F238E27FC236}">
                <a16:creationId xmlns:a16="http://schemas.microsoft.com/office/drawing/2014/main" id="{35E4758A-A978-4444-9846-6B284030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3" y="2889499"/>
            <a:ext cx="2517600" cy="20421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p2">
            <a:extLst xmlns:a="http://schemas.openxmlformats.org/drawingml/2006/main">
              <a:ext uri="{FF2B5EF4-FFF2-40B4-BE49-F238E27FC236}">
                <a16:creationId xmlns:a16="http://schemas.microsoft.com/office/drawing/2014/main" id="{099082E6-95F4-4A82-82A5-EBA0E827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3122132"/>
            <a:ext cx="206040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50"/>
              </a:buClr>
              <a:buSzPts val="4200"/>
              <a:buFont typeface="Malgun Gothic"/>
              <a:buNone/>
            </a:pPr>
            <a:r>
              <a:rPr sz="4200" b="1" i="0" u="none" cap="none">
                <a:solidFill>
                  <a:srgbClr val="00A950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2">
            <a:extLst xmlns:a="http://schemas.openxmlformats.org/drawingml/2006/main">
              <a:ext uri="{FF2B5EF4-FFF2-40B4-BE49-F238E27FC236}">
                <a16:creationId xmlns:a16="http://schemas.microsoft.com/office/drawing/2014/main" id="{83073072-A3EB-4C27-B43D-D54605D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398" y="3435849"/>
            <a:ext cx="2060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sz="1650" b="1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회 일일 실행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7C0C356A-B59E-4B14-A8E7-196440EE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979" y="4026368"/>
            <a:ext cx="2434500" cy="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KST 06:34 · 09:34 · 14:34</a:t>
            </a:r>
            <a:endParaRPr sz="155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427360F1-4328-4116-AA14-B40B99D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200" y="2889499"/>
            <a:ext cx="2517600" cy="20421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D4B70FFF-E0C0-4BFE-B63A-65F6911C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939" y="3122132"/>
            <a:ext cx="206040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912D"/>
              </a:buClr>
              <a:buSzPts val="4200"/>
              <a:buFont typeface="Malgun Gothic"/>
              <a:buNone/>
            </a:pPr>
            <a:r>
              <a:rPr sz="4200" b="1" i="0" u="none" cap="none">
                <a:solidFill>
                  <a:srgbClr val="E8912D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1B33F18B-5344-4374-916F-34969D29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153" y="3435849"/>
            <a:ext cx="2060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sz="1650" b="1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건 하청 혼입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2">
            <a:extLst xmlns:a="http://schemas.openxmlformats.org/drawingml/2006/main">
              <a:ext uri="{FF2B5EF4-FFF2-40B4-BE49-F238E27FC236}">
                <a16:creationId xmlns:a16="http://schemas.microsoft.com/office/drawing/2014/main" id="{85478967-25D6-49C7-8E6E-2A9A72CE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699" y="4035509"/>
            <a:ext cx="206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직영 판정 173건 중 하청 신호 0건</a:t>
            </a:r>
            <a:endParaRPr sz="155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EE665183-4EDA-4BD4-9571-D647252C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2170"/>
            <a:ext cx="11057700" cy="1206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Google Shape;106;p2">
            <a:extLst xmlns:a="http://schemas.openxmlformats.org/drawingml/2006/main">
              <a:ext uri="{FF2B5EF4-FFF2-40B4-BE49-F238E27FC236}">
                <a16:creationId xmlns:a16="http://schemas.microsoft.com/office/drawing/2014/main" id="{80D2A62A-13C9-4744-821F-7A0F7DCF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5190186"/>
            <a:ext cx="84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Char char="•"/>
            </a:pPr>
            <a:r>
              <a:rPr sz="13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단계는 진행률이 아니라 기사 원문으로 확인한 현재 좌표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Char char="•"/>
            </a:pPr>
            <a:r>
              <a:rPr sz="135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원청·하청, 파업투표·인준, 인준·체결을 코드로 분리</a:t>
            </a:r>
            <a:endParaRPr sz="1350" b="0" i="0" u="none" cap="none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lvl="0" indent="-355600" algn="l">
              <a:spcBef>
                <a:spcPts val="50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Char char="•"/>
            </a:pPr>
            <a:r>
              <a:rPr sz="135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모든 기록에 원문 URL·확인일·출처 등급을 보존</a:t>
            </a:r>
            <a:endParaRPr sz="135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7" name="Google Shape;107;p2">
            <a:extLst xmlns:a="http://schemas.openxmlformats.org/drawingml/2006/main">
              <a:ext uri="{FF2B5EF4-FFF2-40B4-BE49-F238E27FC236}">
                <a16:creationId xmlns:a16="http://schemas.microsoft.com/office/drawing/2014/main" id="{E498EC69-0B6C-4E1C-8C62-8361DE5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60" y="5510224"/>
            <a:ext cx="18288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sz="1550" b="1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주요 설계 원칙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5" name="Google Shape;10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c697d655384b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6" name="Google Shape;110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bb53dcf38643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11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1029a43f624c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6975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3">
            <a:extLst xmlns:a="http://schemas.openxmlformats.org/drawingml/2006/main">
              <a:ext uri="{FF2B5EF4-FFF2-40B4-BE49-F238E27FC236}">
                <a16:creationId xmlns:a16="http://schemas.microsoft.com/office/drawing/2014/main" id="{91B7253B-26F2-42DC-815D-FF20D12F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PROBLEM DEFINITION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3">
            <a:extLst xmlns:a="http://schemas.openxmlformats.org/drawingml/2006/main">
              <a:ext uri="{FF2B5EF4-FFF2-40B4-BE49-F238E27FC236}">
                <a16:creationId xmlns:a16="http://schemas.microsoft.com/office/drawing/2014/main" id="{16F72D0A-E9F1-4E9F-80CC-1C84CEF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교섭 시점보다 범위와 상태를 정확히 구분하는 것이 핵심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3">
            <a:extLst xmlns:a="http://schemas.openxmlformats.org/drawingml/2006/main">
              <a:ext uri="{FF2B5EF4-FFF2-40B4-BE49-F238E27FC236}">
                <a16:creationId xmlns:a16="http://schemas.microsoft.com/office/drawing/2014/main" id="{96D84494-30ED-40F8-8B00-FDBF70A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3">
            <a:extLst xmlns:a="http://schemas.openxmlformats.org/drawingml/2006/main">
              <a:ext uri="{FF2B5EF4-FFF2-40B4-BE49-F238E27FC236}">
                <a16:creationId xmlns:a16="http://schemas.microsoft.com/office/drawing/2014/main" id="{77F73BFC-EA15-4510-8B4B-179575A6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230368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3">
            <a:extLst xmlns:a="http://schemas.openxmlformats.org/drawingml/2006/main">
              <a:ext uri="{FF2B5EF4-FFF2-40B4-BE49-F238E27FC236}">
                <a16:creationId xmlns:a16="http://schemas.microsoft.com/office/drawing/2014/main" id="{B57A3F57-57FF-42D2-9E21-ED00313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09344"/>
            <a:ext cx="365760" cy="36576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4B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Google Shape;122;p3">
            <a:extLst xmlns:a="http://schemas.openxmlformats.org/drawingml/2006/main">
              <a:ext uri="{FF2B5EF4-FFF2-40B4-BE49-F238E27FC236}">
                <a16:creationId xmlns:a16="http://schemas.microsoft.com/office/drawing/2014/main" id="{36004374-CF49-47F2-87CF-F055D8A2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0934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3">
            <a:extLst xmlns:a="http://schemas.openxmlformats.org/drawingml/2006/main">
              <a:ext uri="{FF2B5EF4-FFF2-40B4-BE49-F238E27FC236}">
                <a16:creationId xmlns:a16="http://schemas.microsoft.com/office/drawing/2014/main" id="{85324D06-D6A7-43A0-BCCF-C97DA29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6276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Malgun Gothic"/>
              <a:buNone/>
            </a:pPr>
            <a:r>
              <a:rPr sz="17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현황 및 이슈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3">
            <a:extLst xmlns:a="http://schemas.openxmlformats.org/drawingml/2006/main">
              <a:ext uri="{FF2B5EF4-FFF2-40B4-BE49-F238E27FC236}">
                <a16:creationId xmlns:a16="http://schemas.microsoft.com/office/drawing/2014/main" id="{C04A61EB-52A4-48A3-8FC4-59986DAE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4626864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50"/>
              <a:buFont typeface="Malgun Gothic"/>
              <a:buChar char="•"/>
            </a:pPr>
            <a:r>
              <a:rPr sz="14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기업마다 교섭 시작·종결 시점이 다름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450"/>
              <a:buFont typeface="Malgun Gothic"/>
              <a:buChar char="•"/>
            </a:pPr>
            <a:r>
              <a:rPr sz="14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같은 원청 이름 아래 직영·하청 교섭 기사가 혼재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450"/>
              <a:buFont typeface="Malgun Gothic"/>
              <a:buChar char="•"/>
            </a:pPr>
            <a:r>
              <a:rPr sz="14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잠정합의·찬반투표·조인 보도가 자주 뒤섞임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450"/>
              <a:buFont typeface="Malgun Gothic"/>
              <a:buChar char="•"/>
            </a:pPr>
            <a:r>
              <a:rPr sz="14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과거 기사는 타결 결과만 남고 경과가 비는 경우가 많음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3">
            <a:extLst xmlns:a="http://schemas.openxmlformats.org/drawingml/2006/main">
              <a:ext uri="{FF2B5EF4-FFF2-40B4-BE49-F238E27FC236}">
                <a16:creationId xmlns:a16="http://schemas.microsoft.com/office/drawing/2014/main" id="{C3D93588-D533-4A62-9185-E48DC6FE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371600"/>
            <a:ext cx="5568696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3">
            <a:extLst xmlns:a="http://schemas.openxmlformats.org/drawingml/2006/main">
              <a:ext uri="{FF2B5EF4-FFF2-40B4-BE49-F238E27FC236}">
                <a16:creationId xmlns:a16="http://schemas.microsoft.com/office/drawing/2014/main" id="{D3011D57-86CA-4C77-A21C-122485B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09344"/>
            <a:ext cx="365760" cy="36576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3">
            <a:extLst xmlns:a="http://schemas.openxmlformats.org/drawingml/2006/main">
              <a:ext uri="{FF2B5EF4-FFF2-40B4-BE49-F238E27FC236}">
                <a16:creationId xmlns:a16="http://schemas.microsoft.com/office/drawing/2014/main" id="{0F78D171-D00E-4900-A5C5-FB8F9817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0934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3">
            <a:extLst xmlns:a="http://schemas.openxmlformats.org/drawingml/2006/main">
              <a:ext uri="{FF2B5EF4-FFF2-40B4-BE49-F238E27FC236}">
                <a16:creationId xmlns:a16="http://schemas.microsoft.com/office/drawing/2014/main" id="{97001332-ADF7-4755-B21F-90D8EA37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5" y="2103125"/>
            <a:ext cx="5260500" cy="128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50"/>
              <a:buFont typeface="Malgun Gothic"/>
              <a:buChar char="•"/>
            </a:pPr>
            <a:r>
              <a:rPr sz="14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법인 × 연도 × 협약유형 × 교섭단위로 기록</a:t>
            </a:r>
            <a:endParaRPr sz="1450" b="0" i="0" u="none" cap="none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457200" lvl="0" indent="0" algn="l"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단계 판정보다 원청 직접고용 범위 검증을 먼저 수행</a:t>
            </a:r>
            <a:endParaRPr sz="145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450"/>
              <a:buFont typeface="Malgun Gothic"/>
              <a:buChar char="•"/>
            </a:pPr>
            <a:r>
              <a:rPr sz="14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U/S0–S8 주 단계와 조정·쟁의·인준 상태를 분리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450"/>
              <a:buFont typeface="Malgun Gothic"/>
              <a:buChar char="•"/>
            </a:pPr>
            <a:r>
              <a:rPr sz="14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원문 URL·확인일·출처 등급으로 모든 변경을 추적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3">
            <a:extLst xmlns:a="http://schemas.openxmlformats.org/drawingml/2006/main">
              <a:ext uri="{FF2B5EF4-FFF2-40B4-BE49-F238E27FC236}">
                <a16:creationId xmlns:a16="http://schemas.microsoft.com/office/drawing/2014/main" id="{A2669B92-1529-4F36-BED7-FCA09460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16276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Malgun Gothic"/>
              <a:buNone/>
            </a:pPr>
            <a:r>
              <a:rPr sz="1700" b="1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설계 방향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3">
            <a:extLst xmlns:a="http://schemas.openxmlformats.org/drawingml/2006/main">
              <a:ext uri="{FF2B5EF4-FFF2-40B4-BE49-F238E27FC236}">
                <a16:creationId xmlns:a16="http://schemas.microsoft.com/office/drawing/2014/main" id="{3A526188-164C-42C9-9045-F8106066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500"/>
              <a:buFont typeface="Malgun Gothic"/>
              <a:buNone/>
            </a:pPr>
            <a:r>
              <a:rPr sz="17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코드로 고정한 6가지 제약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3">
            <a:extLst xmlns:a="http://schemas.openxmlformats.org/drawingml/2006/main">
              <a:ext uri="{FF2B5EF4-FFF2-40B4-BE49-F238E27FC236}">
                <a16:creationId xmlns:a16="http://schemas.microsoft.com/office/drawing/2014/main" id="{C238CA53-06DC-47E2-A0C0-0C11FD91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08691"/>
            <a:ext cx="3503100" cy="8961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3">
            <a:extLst xmlns:a="http://schemas.openxmlformats.org/drawingml/2006/main">
              <a:ext uri="{FF2B5EF4-FFF2-40B4-BE49-F238E27FC236}">
                <a16:creationId xmlns:a16="http://schemas.microsoft.com/office/drawing/2014/main" id="{1104C9F7-936C-4535-B893-459B7A60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36707"/>
            <a:ext cx="30642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원청 직접고용만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3">
            <a:extLst xmlns:a="http://schemas.openxmlformats.org/drawingml/2006/main">
              <a:ext uri="{FF2B5EF4-FFF2-40B4-BE49-F238E27FC236}">
                <a16:creationId xmlns:a16="http://schemas.microsoft.com/office/drawing/2014/main" id="{2FB8A041-8D0E-4697-9C46-86C6C2A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711027"/>
            <a:ext cx="3064200" cy="4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PRIMARY_DIRECT_UNION만 공개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3">
            <a:extLst xmlns:a="http://schemas.openxmlformats.org/drawingml/2006/main">
              <a:ext uri="{FF2B5EF4-FFF2-40B4-BE49-F238E27FC236}">
                <a16:creationId xmlns:a16="http://schemas.microsoft.com/office/drawing/2014/main" id="{2AAB3EE0-C2BA-4AC6-9047-270C529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4308691"/>
            <a:ext cx="3503100" cy="8961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Google Shape;135;p3">
            <a:extLst xmlns:a="http://schemas.openxmlformats.org/drawingml/2006/main">
              <a:ext uri="{FF2B5EF4-FFF2-40B4-BE49-F238E27FC236}">
                <a16:creationId xmlns:a16="http://schemas.microsoft.com/office/drawing/2014/main" id="{A493399A-C4BA-4CBC-882C-4B3A6D89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770" y="4436707"/>
            <a:ext cx="30642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하청·계열사 분리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3">
            <a:extLst xmlns:a="http://schemas.openxmlformats.org/drawingml/2006/main">
              <a:ext uri="{FF2B5EF4-FFF2-40B4-BE49-F238E27FC236}">
                <a16:creationId xmlns:a16="http://schemas.microsoft.com/office/drawing/2014/main" id="{22B8D229-C33C-4F61-AE96-DA889C7F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775" y="4711039"/>
            <a:ext cx="3319800" cy="4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혼합·불명확 사례는 감사 대기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3">
            <a:extLst xmlns:a="http://schemas.openxmlformats.org/drawingml/2006/main">
              <a:ext uri="{FF2B5EF4-FFF2-40B4-BE49-F238E27FC236}">
                <a16:creationId xmlns:a16="http://schemas.microsoft.com/office/drawing/2014/main" id="{4B4074FF-3B14-43E6-BEFF-F189A2D4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4308691"/>
            <a:ext cx="3503100" cy="8961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3">
            <a:extLst xmlns:a="http://schemas.openxmlformats.org/drawingml/2006/main">
              <a:ext uri="{FF2B5EF4-FFF2-40B4-BE49-F238E27FC236}">
                <a16:creationId xmlns:a16="http://schemas.microsoft.com/office/drawing/2014/main" id="{673092CF-B416-4305-88FB-A273D10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4436707"/>
            <a:ext cx="30642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가결 ≠ 체결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3">
            <a:extLst xmlns:a="http://schemas.openxmlformats.org/drawingml/2006/main">
              <a:ext uri="{FF2B5EF4-FFF2-40B4-BE49-F238E27FC236}">
                <a16:creationId xmlns:a16="http://schemas.microsoft.com/office/drawing/2014/main" id="{398D7A70-90C4-4F6E-BD68-C7BEC6B8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4711027"/>
            <a:ext cx="3064200" cy="4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S7은 서명·조인·발효 근거 필수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3">
            <a:extLst xmlns:a="http://schemas.openxmlformats.org/drawingml/2006/main">
              <a:ext uri="{FF2B5EF4-FFF2-40B4-BE49-F238E27FC236}">
                <a16:creationId xmlns:a16="http://schemas.microsoft.com/office/drawing/2014/main" id="{39B20717-01F5-40E6-B702-92CAB95D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32819"/>
            <a:ext cx="3503100" cy="8961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Google Shape;141;p3">
            <a:extLst xmlns:a="http://schemas.openxmlformats.org/drawingml/2006/main">
              <a:ext uri="{FF2B5EF4-FFF2-40B4-BE49-F238E27FC236}">
                <a16:creationId xmlns:a16="http://schemas.microsoft.com/office/drawing/2014/main" id="{B48A5FE1-545E-4142-AC12-B6FBC8E8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60835"/>
            <a:ext cx="30642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새 기사 없음 ≠ 미착수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3">
            <a:extLst xmlns:a="http://schemas.openxmlformats.org/drawingml/2006/main">
              <a:ext uri="{FF2B5EF4-FFF2-40B4-BE49-F238E27FC236}">
                <a16:creationId xmlns:a16="http://schemas.microsoft.com/office/drawing/2014/main" id="{8D017606-772D-489E-A022-3592E1FB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735155"/>
            <a:ext cx="3064200" cy="4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기존 확정 상태를 유지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3">
            <a:extLst xmlns:a="http://schemas.openxmlformats.org/drawingml/2006/main">
              <a:ext uri="{FF2B5EF4-FFF2-40B4-BE49-F238E27FC236}">
                <a16:creationId xmlns:a16="http://schemas.microsoft.com/office/drawing/2014/main" id="{AE6B9DAD-16F3-4234-AE25-FC929D52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5332819"/>
            <a:ext cx="3503100" cy="8961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3">
            <a:extLst xmlns:a="http://schemas.openxmlformats.org/drawingml/2006/main">
              <a:ext uri="{FF2B5EF4-FFF2-40B4-BE49-F238E27FC236}">
                <a16:creationId xmlns:a16="http://schemas.microsoft.com/office/drawing/2014/main" id="{C7A5D760-ADBA-4CC2-9E1E-A141572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770" y="5460835"/>
            <a:ext cx="30642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근거 URL 필수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3">
            <a:extLst xmlns:a="http://schemas.openxmlformats.org/drawingml/2006/main">
              <a:ext uri="{FF2B5EF4-FFF2-40B4-BE49-F238E27FC236}">
                <a16:creationId xmlns:a16="http://schemas.microsoft.com/office/drawing/2014/main" id="{00D7F18F-00C4-461C-95A0-B6CBAD5A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770" y="5735155"/>
            <a:ext cx="3064200" cy="4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기사 본문은 복제하지 않음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3">
            <a:extLst xmlns:a="http://schemas.openxmlformats.org/drawingml/2006/main">
              <a:ext uri="{FF2B5EF4-FFF2-40B4-BE49-F238E27FC236}">
                <a16:creationId xmlns:a16="http://schemas.microsoft.com/office/drawing/2014/main" id="{0B0173A3-7502-4F5F-81E5-C3EB24D9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5332819"/>
            <a:ext cx="3503100" cy="8961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Google Shape;147;p3">
            <a:extLst xmlns:a="http://schemas.openxmlformats.org/drawingml/2006/main">
              <a:ext uri="{FF2B5EF4-FFF2-40B4-BE49-F238E27FC236}">
                <a16:creationId xmlns:a16="http://schemas.microsoft.com/office/drawing/2014/main" id="{85CF1626-EF39-4E2E-9A83-3795D758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5460835"/>
            <a:ext cx="30642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근거 없으면 U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3">
            <a:extLst xmlns:a="http://schemas.openxmlformats.org/drawingml/2006/main">
              <a:ext uri="{FF2B5EF4-FFF2-40B4-BE49-F238E27FC236}">
                <a16:creationId xmlns:a16="http://schemas.microsoft.com/office/drawing/2014/main" id="{8DFBA9D1-9102-4228-9915-B66F10BF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5735155"/>
            <a:ext cx="3064200" cy="4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그럴듯한 값으로 채우지 않음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4" name="Google Shape;150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d28ac8edba45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5" name="Google Shape;151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4b0694ed194e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6" name="Google Shape;152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88fe41beb146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37721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4">
            <a:extLst xmlns:a="http://schemas.openxmlformats.org/drawingml/2006/main">
              <a:ext uri="{FF2B5EF4-FFF2-40B4-BE49-F238E27FC236}">
                <a16:creationId xmlns:a16="http://schemas.microsoft.com/office/drawing/2014/main" id="{CB790639-3EA9-4757-AECD-94C79683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APPROACH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4">
            <a:extLst xmlns:a="http://schemas.openxmlformats.org/drawingml/2006/main">
              <a:ext uri="{FF2B5EF4-FFF2-40B4-BE49-F238E27FC236}">
                <a16:creationId xmlns:a16="http://schemas.microsoft.com/office/drawing/2014/main" id="{82B72B57-503C-46AA-AC71-7B5A5B5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범위 게이트부터 자동화까지 세 단계로 설계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4">
            <a:extLst xmlns:a="http://schemas.openxmlformats.org/drawingml/2006/main">
              <a:ext uri="{FF2B5EF4-FFF2-40B4-BE49-F238E27FC236}">
                <a16:creationId xmlns:a16="http://schemas.microsoft.com/office/drawing/2014/main" id="{D838DA81-A451-43CB-9569-1211BCEF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4">
            <a:extLst xmlns:a="http://schemas.openxmlformats.org/drawingml/2006/main">
              <a:ext uri="{FF2B5EF4-FFF2-40B4-BE49-F238E27FC236}">
                <a16:creationId xmlns:a16="http://schemas.microsoft.com/office/drawing/2014/main" id="{4456C776-EB81-4C0E-B93B-EF5CA9DC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3429914" cy="397764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4">
            <a:extLst xmlns:a="http://schemas.openxmlformats.org/drawingml/2006/main">
              <a:ext uri="{FF2B5EF4-FFF2-40B4-BE49-F238E27FC236}">
                <a16:creationId xmlns:a16="http://schemas.microsoft.com/office/drawing/2014/main" id="{AF688AC3-95AF-43A6-8265-A1233558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475488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4">
            <a:extLst xmlns:a="http://schemas.openxmlformats.org/drawingml/2006/main">
              <a:ext uri="{FF2B5EF4-FFF2-40B4-BE49-F238E27FC236}">
                <a16:creationId xmlns:a16="http://schemas.microsoft.com/office/drawing/2014/main" id="{FEAE731C-FA45-411E-A1F9-507AB98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sz="16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4">
            <a:extLst xmlns:a="http://schemas.openxmlformats.org/drawingml/2006/main">
              <a:ext uri="{FF2B5EF4-FFF2-40B4-BE49-F238E27FC236}">
                <a16:creationId xmlns:a16="http://schemas.microsoft.com/office/drawing/2014/main" id="{3A89D7C0-DA44-4508-BC89-8CE3B479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40864"/>
            <a:ext cx="288127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600"/>
              <a:buFont typeface="Malgun Gothic"/>
              <a:buNone/>
            </a:pPr>
            <a:r>
              <a:rPr sz="16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범위와 단계 프레임워크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4">
            <a:extLst xmlns:a="http://schemas.openxmlformats.org/drawingml/2006/main">
              <a:ext uri="{FF2B5EF4-FFF2-40B4-BE49-F238E27FC236}">
                <a16:creationId xmlns:a16="http://schemas.microsoft.com/office/drawing/2014/main" id="{1584A6C0-5C51-48B3-8720-DB10F86A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70048"/>
            <a:ext cx="288127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50"/>
              <a:buFont typeface="Malgun Gothic"/>
              <a:buNone/>
            </a:pPr>
            <a:r>
              <a:rPr sz="13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직접고용 범위와 U/S0–S8 상태 모델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4">
            <a:extLst xmlns:a="http://schemas.openxmlformats.org/drawingml/2006/main">
              <a:ext uri="{FF2B5EF4-FFF2-40B4-BE49-F238E27FC236}">
                <a16:creationId xmlns:a16="http://schemas.microsoft.com/office/drawing/2014/main" id="{0752D3DC-B251-463E-BC9A-E94E2E4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000" y="3065976"/>
            <a:ext cx="237600" cy="6894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4">
            <a:extLst xmlns:a="http://schemas.openxmlformats.org/drawingml/2006/main">
              <a:ext uri="{FF2B5EF4-FFF2-40B4-BE49-F238E27FC236}">
                <a16:creationId xmlns:a16="http://schemas.microsoft.com/office/drawing/2014/main" id="{EA87FB15-CE9D-4654-A2D4-B9B5314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00400"/>
            <a:ext cx="2881274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법인·연도·협약유형·교섭단위 기준</a:t>
            </a:r>
            <a:endParaRPr sz="125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주 단계와 조정·쟁의·인준 상태 분리</a:t>
            </a:r>
            <a:endParaRPr sz="125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잠정합의 부결·재교섭 등 역행 경로 허용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4">
            <a:extLst xmlns:a="http://schemas.openxmlformats.org/drawingml/2006/main">
              <a:ext uri="{FF2B5EF4-FFF2-40B4-BE49-F238E27FC236}">
                <a16:creationId xmlns:a16="http://schemas.microsoft.com/office/drawing/2014/main" id="{87467923-58A5-440F-8E74-3CE05F8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890" y="1463040"/>
            <a:ext cx="3429914" cy="397764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4">
            <a:extLst xmlns:a="http://schemas.openxmlformats.org/drawingml/2006/main">
              <a:ext uri="{FF2B5EF4-FFF2-40B4-BE49-F238E27FC236}">
                <a16:creationId xmlns:a16="http://schemas.microsoft.com/office/drawing/2014/main" id="{328A2170-8FD4-4009-8923-CAF079C6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1719072"/>
            <a:ext cx="475488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Google Shape;170;p4">
            <a:extLst xmlns:a="http://schemas.openxmlformats.org/drawingml/2006/main">
              <a:ext uri="{FF2B5EF4-FFF2-40B4-BE49-F238E27FC236}">
                <a16:creationId xmlns:a16="http://schemas.microsoft.com/office/drawing/2014/main" id="{1A98C6D5-5D7D-4E1C-9C9F-72E6CCDE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1719072"/>
            <a:ext cx="47548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sz="16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p4">
            <a:extLst xmlns:a="http://schemas.openxmlformats.org/drawingml/2006/main">
              <a:ext uri="{FF2B5EF4-FFF2-40B4-BE49-F238E27FC236}">
                <a16:creationId xmlns:a16="http://schemas.microsoft.com/office/drawing/2014/main" id="{298F1A99-EC69-44C5-9A45-7AF600B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340864"/>
            <a:ext cx="288127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600"/>
              <a:buFont typeface="Malgun Gothic"/>
              <a:buNone/>
            </a:pPr>
            <a:r>
              <a:rPr sz="16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뉴스 수집과 사실화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4">
            <a:extLst xmlns:a="http://schemas.openxmlformats.org/drawingml/2006/main">
              <a:ext uri="{FF2B5EF4-FFF2-40B4-BE49-F238E27FC236}">
                <a16:creationId xmlns:a16="http://schemas.microsoft.com/office/drawing/2014/main" id="{32E217EE-BBBC-4689-B30A-CCFDDDB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670048"/>
            <a:ext cx="288127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50"/>
              <a:buFont typeface="Malgun Gothic"/>
              <a:buNone/>
            </a:pPr>
            <a:r>
              <a:rPr sz="13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후보 기사에서 검증 이벤트로 정규화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4">
            <a:extLst xmlns:a="http://schemas.openxmlformats.org/drawingml/2006/main">
              <a:ext uri="{FF2B5EF4-FFF2-40B4-BE49-F238E27FC236}">
                <a16:creationId xmlns:a16="http://schemas.microsoft.com/office/drawing/2014/main" id="{573990FE-9196-4C13-B52A-27A45752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3200400"/>
            <a:ext cx="2881274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Google News 후보 수집</a:t>
            </a:r>
            <a:endParaRPr sz="125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URL·제목·발행일 기준 중복 제거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92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범위 Skill 통과 후 단계·쟁점 분류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원문 링크·사실 요약·출처 등급 보존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4">
            <a:extLst xmlns:a="http://schemas.openxmlformats.org/drawingml/2006/main">
              <a:ext uri="{FF2B5EF4-FFF2-40B4-BE49-F238E27FC236}">
                <a16:creationId xmlns:a16="http://schemas.microsoft.com/office/drawing/2014/main" id="{19805544-1F35-4F6F-ADCC-2FDB482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956" y="3065976"/>
            <a:ext cx="237600" cy="6894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Google Shape;175;p4">
            <a:extLst xmlns:a="http://schemas.openxmlformats.org/drawingml/2006/main">
              <a:ext uri="{FF2B5EF4-FFF2-40B4-BE49-F238E27FC236}">
                <a16:creationId xmlns:a16="http://schemas.microsoft.com/office/drawing/2014/main" id="{14D5EDA5-73B0-45E0-8BFC-036B2177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1463040"/>
            <a:ext cx="3429914" cy="397764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Google Shape;176;p4">
            <a:extLst xmlns:a="http://schemas.openxmlformats.org/drawingml/2006/main">
              <a:ext uri="{FF2B5EF4-FFF2-40B4-BE49-F238E27FC236}">
                <a16:creationId xmlns:a16="http://schemas.microsoft.com/office/drawing/2014/main" id="{6ADB33C3-EBA8-4CB5-936B-5C5E87A7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173" y="1719072"/>
            <a:ext cx="475488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Google Shape;177;p4">
            <a:extLst xmlns:a="http://schemas.openxmlformats.org/drawingml/2006/main">
              <a:ext uri="{FF2B5EF4-FFF2-40B4-BE49-F238E27FC236}">
                <a16:creationId xmlns:a16="http://schemas.microsoft.com/office/drawing/2014/main" id="{D7044332-8C99-4F1B-98F6-EDCD6EBA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173" y="171907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sz="16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4">
            <a:extLst xmlns:a="http://schemas.openxmlformats.org/drawingml/2006/main">
              <a:ext uri="{FF2B5EF4-FFF2-40B4-BE49-F238E27FC236}">
                <a16:creationId xmlns:a16="http://schemas.microsoft.com/office/drawing/2014/main" id="{1814868B-FE52-4BA1-BD2D-CE335E9A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173" y="2340864"/>
            <a:ext cx="288127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600"/>
              <a:buFont typeface="Malgun Gothic"/>
              <a:buNone/>
            </a:pPr>
            <a:r>
              <a:rPr sz="16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운영·검증·배포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4">
            <a:extLst xmlns:a="http://schemas.openxmlformats.org/drawingml/2006/main">
              <a:ext uri="{FF2B5EF4-FFF2-40B4-BE49-F238E27FC236}">
                <a16:creationId xmlns:a16="http://schemas.microsoft.com/office/drawing/2014/main" id="{15F7DAD5-D1BC-4006-8889-E9435ABB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173" y="2670048"/>
            <a:ext cx="288127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50"/>
              <a:buFont typeface="Malgun Gothic"/>
              <a:buNone/>
            </a:pPr>
            <a:r>
              <a:rPr sz="13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하루 세 번 시도하고 멈춤까지 감시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4">
            <a:extLst xmlns:a="http://schemas.openxmlformats.org/drawingml/2006/main">
              <a:ext uri="{FF2B5EF4-FFF2-40B4-BE49-F238E27FC236}">
                <a16:creationId xmlns:a16="http://schemas.microsoft.com/office/drawing/2014/main" id="{35F5FB59-0A72-45BE-A91D-EEEA1E2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173" y="3200400"/>
            <a:ext cx="2881274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GitHub Actions 예비 실행 3회</a:t>
            </a:r>
            <a:endParaRPr sz="125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회귀 테스트 → 커밋 → Cloudflare 배포</a:t>
            </a:r>
            <a:endParaRPr sz="125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실행 지연 감시와 결과 이메일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92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sz="125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Supabase에 자연키 기준 멱등 적재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7" name="Google Shape;182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c8316f311e4e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8" name="Google Shape;18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30289a03d44b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9" name="Google Shape;18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a5f67b6f594b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82932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Google Shape;190;p5">
            <a:extLst xmlns:a="http://schemas.openxmlformats.org/drawingml/2006/main">
              <a:ext uri="{FF2B5EF4-FFF2-40B4-BE49-F238E27FC236}">
                <a16:creationId xmlns:a16="http://schemas.microsoft.com/office/drawing/2014/main" id="{2653B89D-9148-4788-BC1D-9A684ED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FEATURE 01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5">
            <a:extLst xmlns:a="http://schemas.openxmlformats.org/drawingml/2006/main">
              <a:ext uri="{FF2B5EF4-FFF2-40B4-BE49-F238E27FC236}">
                <a16:creationId xmlns:a16="http://schemas.microsoft.com/office/drawing/2014/main" id="{4E4CBBD7-F584-4FED-AA55-E5DC9BD4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회사·연도·단계로 좁히면 현재 교섭 좌표가 바로 보인다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5">
            <a:extLst xmlns:a="http://schemas.openxmlformats.org/drawingml/2006/main">
              <a:ext uri="{FF2B5EF4-FFF2-40B4-BE49-F238E27FC236}">
                <a16:creationId xmlns:a16="http://schemas.microsoft.com/office/drawing/2014/main" id="{06A16D83-6C87-4AF4-BBF0-6A670FC2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4" name="Google Shape;193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ed8f04405541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389888"/>
            <a:ext cx="6400800" cy="40507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4" name="Google Shape;194;p5">
            <a:extLst xmlns:a="http://schemas.openxmlformats.org/drawingml/2006/main">
              <a:ext uri="{FF2B5EF4-FFF2-40B4-BE49-F238E27FC236}">
                <a16:creationId xmlns:a16="http://schemas.microsoft.com/office/drawing/2014/main" id="{CFA53B09-BF63-41EC-A1BC-02E6C3A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89888"/>
            <a:ext cx="6400800" cy="4050792"/>
          </a:xfrm>
          <a:prstGeom xmlns:a="http://schemas.openxmlformats.org/drawingml/2006/main" prst="roundRect">
            <a:avLst>
              <a:gd name="adj" fmla="val 903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Google Shape;195;p5">
            <a:extLst xmlns:a="http://schemas.openxmlformats.org/drawingml/2006/main">
              <a:ext uri="{FF2B5EF4-FFF2-40B4-BE49-F238E27FC236}">
                <a16:creationId xmlns:a16="http://schemas.microsoft.com/office/drawing/2014/main" id="{9D2659CA-5372-45BF-98AE-E8123F26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38988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ABA6AF51-9778-4558-91CE-78D2817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38988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C23EBC9E-D35D-4DA3-8F5D-44E7AA8E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1371600"/>
            <a:ext cx="388894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12개 법인 실명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E872D32C-BE77-495B-AE7A-61F2FF87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1627632"/>
            <a:ext cx="3888943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주요 제조기업의 원청 노조 현황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5">
            <a:extLst xmlns:a="http://schemas.openxmlformats.org/drawingml/2006/main">
              <a:ext uri="{FF2B5EF4-FFF2-40B4-BE49-F238E27FC236}">
                <a16:creationId xmlns:a16="http://schemas.microsoft.com/office/drawing/2014/main" id="{381B58A9-FC3E-4607-9D8D-6B6A1435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221284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Google Shape;200;p5">
            <a:extLst xmlns:a="http://schemas.openxmlformats.org/drawingml/2006/main">
              <a:ext uri="{FF2B5EF4-FFF2-40B4-BE49-F238E27FC236}">
                <a16:creationId xmlns:a16="http://schemas.microsoft.com/office/drawing/2014/main" id="{BBD357B4-9FFD-48D6-AE00-5DE5A335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22128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5">
            <a:extLst xmlns:a="http://schemas.openxmlformats.org/drawingml/2006/main">
              <a:ext uri="{FF2B5EF4-FFF2-40B4-BE49-F238E27FC236}">
                <a16:creationId xmlns:a16="http://schemas.microsoft.com/office/drawing/2014/main" id="{A789467A-0BAB-4DFB-BA84-33B1C17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2194560"/>
            <a:ext cx="388894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2021–2026 연도 조회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5">
            <a:extLst xmlns:a="http://schemas.openxmlformats.org/drawingml/2006/main">
              <a:ext uri="{FF2B5EF4-FFF2-40B4-BE49-F238E27FC236}">
                <a16:creationId xmlns:a16="http://schemas.microsoft.com/office/drawing/2014/main" id="{28D2EFEF-B0DF-4917-9AD7-71328ED8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2450592"/>
            <a:ext cx="3888943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현재와 과거 기록을 같은 축에서 탐색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5">
            <a:extLst xmlns:a="http://schemas.openxmlformats.org/drawingml/2006/main">
              <a:ext uri="{FF2B5EF4-FFF2-40B4-BE49-F238E27FC236}">
                <a16:creationId xmlns:a16="http://schemas.microsoft.com/office/drawing/2014/main" id="{A7F9A5A8-F0D9-41BB-B6D7-A4278EC9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03580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Google Shape;204;p5">
            <a:extLst xmlns:a="http://schemas.openxmlformats.org/drawingml/2006/main">
              <a:ext uri="{FF2B5EF4-FFF2-40B4-BE49-F238E27FC236}">
                <a16:creationId xmlns:a16="http://schemas.microsoft.com/office/drawing/2014/main" id="{B6C0F8FC-6192-4006-8FED-02B7FF01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0358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5">
            <a:extLst xmlns:a="http://schemas.openxmlformats.org/drawingml/2006/main">
              <a:ext uri="{FF2B5EF4-FFF2-40B4-BE49-F238E27FC236}">
                <a16:creationId xmlns:a16="http://schemas.microsoft.com/office/drawing/2014/main" id="{A272DB20-08C5-42E1-A349-43BD13C3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017520"/>
            <a:ext cx="388894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임협·임단협 구분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5">
            <a:extLst xmlns:a="http://schemas.openxmlformats.org/drawingml/2006/main">
              <a:ext uri="{FF2B5EF4-FFF2-40B4-BE49-F238E27FC236}">
                <a16:creationId xmlns:a16="http://schemas.microsoft.com/office/drawing/2014/main" id="{1E9A672E-F2F4-4B5A-8DFB-CC2EEF2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273552"/>
            <a:ext cx="3888943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올해 협약유형을 회사별로 표시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5">
            <a:extLst xmlns:a="http://schemas.openxmlformats.org/drawingml/2006/main">
              <a:ext uri="{FF2B5EF4-FFF2-40B4-BE49-F238E27FC236}">
                <a16:creationId xmlns:a16="http://schemas.microsoft.com/office/drawing/2014/main" id="{618461EE-A09A-4A87-9032-13A50C1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85876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Google Shape;208;p5">
            <a:extLst xmlns:a="http://schemas.openxmlformats.org/drawingml/2006/main">
              <a:ext uri="{FF2B5EF4-FFF2-40B4-BE49-F238E27FC236}">
                <a16:creationId xmlns:a16="http://schemas.microsoft.com/office/drawing/2014/main" id="{AAC47B5F-E0DA-4158-B13E-EBAADEE5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85876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5">
            <a:extLst xmlns:a="http://schemas.openxmlformats.org/drawingml/2006/main">
              <a:ext uri="{FF2B5EF4-FFF2-40B4-BE49-F238E27FC236}">
                <a16:creationId xmlns:a16="http://schemas.microsoft.com/office/drawing/2014/main" id="{FEC98E9C-9704-4285-AC31-FD9ECFE5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840480"/>
            <a:ext cx="388894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U/S0–S8 단계 필터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5">
            <a:extLst xmlns:a="http://schemas.openxmlformats.org/drawingml/2006/main">
              <a:ext uri="{FF2B5EF4-FFF2-40B4-BE49-F238E27FC236}">
                <a16:creationId xmlns:a16="http://schemas.microsoft.com/office/drawing/2014/main" id="{147E47E8-FDA4-4259-A6B0-AC904108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4096512"/>
            <a:ext cx="3888943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시기가 아니라 확인된 주 단계로 비교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5">
            <a:extLst xmlns:a="http://schemas.openxmlformats.org/drawingml/2006/main">
              <a:ext uri="{FF2B5EF4-FFF2-40B4-BE49-F238E27FC236}">
                <a16:creationId xmlns:a16="http://schemas.microsoft.com/office/drawing/2014/main" id="{D6B08E82-2244-4459-9A6E-57E5326B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468172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5">
            <a:extLst xmlns:a="http://schemas.openxmlformats.org/drawingml/2006/main">
              <a:ext uri="{FF2B5EF4-FFF2-40B4-BE49-F238E27FC236}">
                <a16:creationId xmlns:a16="http://schemas.microsoft.com/office/drawing/2014/main" id="{A850CA55-27FD-4152-8893-7839365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468172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5">
            <a:extLst xmlns:a="http://schemas.openxmlformats.org/drawingml/2006/main">
              <a:ext uri="{FF2B5EF4-FFF2-40B4-BE49-F238E27FC236}">
                <a16:creationId xmlns:a16="http://schemas.microsoft.com/office/drawing/2014/main" id="{9219AD38-F4C3-4A21-A2BA-38837E1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4663440"/>
            <a:ext cx="388894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검증 근거 표시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5">
            <a:extLst xmlns:a="http://schemas.openxmlformats.org/drawingml/2006/main">
              <a:ext uri="{FF2B5EF4-FFF2-40B4-BE49-F238E27FC236}">
                <a16:creationId xmlns:a16="http://schemas.microsoft.com/office/drawing/2014/main" id="{A39778AD-CAE2-4D5E-A07E-55DDE6C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4919472"/>
            <a:ext cx="3888943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원문·확인일·출처 등급까지 연결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5">
            <a:extLst xmlns:a="http://schemas.openxmlformats.org/drawingml/2006/main">
              <a:ext uri="{FF2B5EF4-FFF2-40B4-BE49-F238E27FC236}">
                <a16:creationId xmlns:a16="http://schemas.microsoft.com/office/drawing/2014/main" id="{C10C4A70-16CD-4757-B21C-4F6A2AA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32704"/>
            <a:ext cx="11057839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">
            <a:extLst xmlns:a="http://schemas.openxmlformats.org/drawingml/2006/main">
              <a:ext uri="{FF2B5EF4-FFF2-40B4-BE49-F238E27FC236}">
                <a16:creationId xmlns:a16="http://schemas.microsoft.com/office/drawing/2014/main" id="{F36141C7-7267-4ACB-A454-BEDBE443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797296"/>
            <a:ext cx="1047262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Malgun Gothic"/>
              <a:buNone/>
            </a:pPr>
            <a:r>
              <a:rPr sz="15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일정을 나열하지 않고 단계 축으로 비교하되, 완료율로 오해하지 않도록 설계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8" name="Google Shape;21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c5fd84edaf46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9" name="Google Shape;21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45b4cfda9a40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0" name="Google Shape;22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05843b630e48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30204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Google Shape;226;p6">
            <a:extLst xmlns:a="http://schemas.openxmlformats.org/drawingml/2006/main">
              <a:ext uri="{FF2B5EF4-FFF2-40B4-BE49-F238E27FC236}">
                <a16:creationId xmlns:a16="http://schemas.microsoft.com/office/drawing/2014/main" id="{ECD10BE8-76C9-4931-A038-1E687E4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FEATURE 02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6">
            <a:extLst xmlns:a="http://schemas.openxmlformats.org/drawingml/2006/main">
              <a:ext uri="{FF2B5EF4-FFF2-40B4-BE49-F238E27FC236}">
                <a16:creationId xmlns:a16="http://schemas.microsoft.com/office/drawing/2014/main" id="{63460B02-5A59-42E5-B23A-418B2EE0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선택한 교섭은 경과·쟁점·근거까지 한 흐름으로 읽는다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6">
            <a:extLst xmlns:a="http://schemas.openxmlformats.org/drawingml/2006/main">
              <a:ext uri="{FF2B5EF4-FFF2-40B4-BE49-F238E27FC236}">
                <a16:creationId xmlns:a16="http://schemas.microsoft.com/office/drawing/2014/main" id="{28122F1B-7B41-48F8-8B67-F490691F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9" name="Google Shape;229;p6">
            <a:extLst xmlns:a="http://schemas.openxmlformats.org/drawingml/2006/main">
              <a:ext uri="{FF2B5EF4-FFF2-40B4-BE49-F238E27FC236}">
                <a16:creationId xmlns:a16="http://schemas.microsoft.com/office/drawing/2014/main" id="{B899B795-A4D9-4488-AFBA-2922A9D3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08176"/>
            <a:ext cx="3466490" cy="2212848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p6">
            <a:extLst xmlns:a="http://schemas.openxmlformats.org/drawingml/2006/main">
              <a:ext uri="{FF2B5EF4-FFF2-40B4-BE49-F238E27FC236}">
                <a16:creationId xmlns:a16="http://schemas.microsoft.com/office/drawing/2014/main" id="{08128ED0-7DE7-4735-9B86-723CAF61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402336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0A9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Google Shape;231;p6">
            <a:extLst xmlns:a="http://schemas.openxmlformats.org/drawingml/2006/main">
              <a:ext uri="{FF2B5EF4-FFF2-40B4-BE49-F238E27FC236}">
                <a16:creationId xmlns:a16="http://schemas.microsoft.com/office/drawing/2014/main" id="{2A301133-3A5F-4DC2-985B-200BC02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Google Shape;232;p6">
            <a:extLst xmlns:a="http://schemas.openxmlformats.org/drawingml/2006/main">
              <a:ext uri="{FF2B5EF4-FFF2-40B4-BE49-F238E27FC236}">
                <a16:creationId xmlns:a16="http://schemas.microsoft.com/office/drawing/2014/main" id="{2CB7158C-CA7F-4628-956D-896739B3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664208"/>
            <a:ext cx="24606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450"/>
              <a:buFont typeface="Malgun Gothic"/>
              <a:buNone/>
            </a:pPr>
            <a:r>
              <a:rPr sz="165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현재 좌표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Google Shape;233;p6">
            <a:extLst xmlns:a="http://schemas.openxmlformats.org/drawingml/2006/main">
              <a:ext uri="{FF2B5EF4-FFF2-40B4-BE49-F238E27FC236}">
                <a16:creationId xmlns:a16="http://schemas.microsoft.com/office/drawing/2014/main" id="{87A29FA9-5F8E-4BE6-BF63-3423F28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76272"/>
            <a:ext cx="2954426" cy="329184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Google Shape;234;p6">
            <a:extLst xmlns:a="http://schemas.openxmlformats.org/drawingml/2006/main">
              <a:ext uri="{FF2B5EF4-FFF2-40B4-BE49-F238E27FC236}">
                <a16:creationId xmlns:a16="http://schemas.microsoft.com/office/drawing/2014/main" id="{8AF2EB63-403F-400F-B7D3-1A10E703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76272"/>
            <a:ext cx="2954426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회사·협약유형·단계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6">
            <a:extLst xmlns:a="http://schemas.openxmlformats.org/drawingml/2006/main">
              <a:ext uri="{FF2B5EF4-FFF2-40B4-BE49-F238E27FC236}">
                <a16:creationId xmlns:a16="http://schemas.microsoft.com/office/drawing/2014/main" id="{5B826925-BB47-4710-B4AE-59BC3151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15184"/>
            <a:ext cx="2954426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3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현재 주 단계와 근거 신뢰도, 마지막 검증일을 함께 표시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6">
            <a:extLst xmlns:a="http://schemas.openxmlformats.org/drawingml/2006/main">
              <a:ext uri="{FF2B5EF4-FFF2-40B4-BE49-F238E27FC236}">
                <a16:creationId xmlns:a16="http://schemas.microsoft.com/office/drawing/2014/main" id="{05917CF9-C271-4499-8F45-98ECF2BF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1408176"/>
            <a:ext cx="3466490" cy="2212848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Google Shape;237;p6">
            <a:extLst xmlns:a="http://schemas.openxmlformats.org/drawingml/2006/main">
              <a:ext uri="{FF2B5EF4-FFF2-40B4-BE49-F238E27FC236}">
                <a16:creationId xmlns:a16="http://schemas.microsoft.com/office/drawing/2014/main" id="{4FC14551-6D50-4872-A91A-BB91F282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1645920"/>
            <a:ext cx="402336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Google Shape;238;p6">
            <a:extLst xmlns:a="http://schemas.openxmlformats.org/drawingml/2006/main">
              <a:ext uri="{FF2B5EF4-FFF2-40B4-BE49-F238E27FC236}">
                <a16:creationId xmlns:a16="http://schemas.microsoft.com/office/drawing/2014/main" id="{20EAE155-846D-4F90-B9B8-44E8E001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16459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Google Shape;239;p6">
            <a:extLst xmlns:a="http://schemas.openxmlformats.org/drawingml/2006/main">
              <a:ext uri="{FF2B5EF4-FFF2-40B4-BE49-F238E27FC236}">
                <a16:creationId xmlns:a16="http://schemas.microsoft.com/office/drawing/2014/main" id="{050F50F1-8250-49ED-BE85-DF0FDD0B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410" y="1664208"/>
            <a:ext cx="24606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450"/>
              <a:buFont typeface="Malgun Gothic"/>
              <a:buNone/>
            </a:pPr>
            <a:r>
              <a:rPr sz="165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교섭 경과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Google Shape;240;p6">
            <a:extLst xmlns:a="http://schemas.openxmlformats.org/drawingml/2006/main">
              <a:ext uri="{FF2B5EF4-FFF2-40B4-BE49-F238E27FC236}">
                <a16:creationId xmlns:a16="http://schemas.microsoft.com/office/drawing/2014/main" id="{6D9DEBA5-7DF7-43D3-9793-167E4B28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2176272"/>
            <a:ext cx="2954426" cy="329184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Google Shape;241;p6">
            <a:extLst xmlns:a="http://schemas.openxmlformats.org/drawingml/2006/main">
              <a:ext uri="{FF2B5EF4-FFF2-40B4-BE49-F238E27FC236}">
                <a16:creationId xmlns:a16="http://schemas.microsoft.com/office/drawing/2014/main" id="{3EA0CFC6-5288-4C6D-BD2D-B93ED86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2176272"/>
            <a:ext cx="2954426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기사 원문 확인 순서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6">
            <a:extLst xmlns:a="http://schemas.openxmlformats.org/drawingml/2006/main">
              <a:ext uri="{FF2B5EF4-FFF2-40B4-BE49-F238E27FC236}">
                <a16:creationId xmlns:a16="http://schemas.microsoft.com/office/drawing/2014/main" id="{5F4A1FBD-1A36-437A-8048-B635A44C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2615184"/>
            <a:ext cx="2954426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3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교착·조정·쟁의·잠정합의·인준·조인을 시간순으로 기록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6">
            <a:extLst xmlns:a="http://schemas.openxmlformats.org/drawingml/2006/main">
              <a:ext uri="{FF2B5EF4-FFF2-40B4-BE49-F238E27FC236}">
                <a16:creationId xmlns:a16="http://schemas.microsoft.com/office/drawing/2014/main" id="{0F04ED86-D221-4EA9-AB6B-9A60E21F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1408176"/>
            <a:ext cx="3466490" cy="2212848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Google Shape;244;p6">
            <a:extLst xmlns:a="http://schemas.openxmlformats.org/drawingml/2006/main">
              <a:ext uri="{FF2B5EF4-FFF2-40B4-BE49-F238E27FC236}">
                <a16:creationId xmlns:a16="http://schemas.microsoft.com/office/drawing/2014/main" id="{FF838AAA-4479-4AAF-B6FA-6EF196D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1645920"/>
            <a:ext cx="402336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891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Google Shape;245;p6">
            <a:extLst xmlns:a="http://schemas.openxmlformats.org/drawingml/2006/main">
              <a:ext uri="{FF2B5EF4-FFF2-40B4-BE49-F238E27FC236}">
                <a16:creationId xmlns:a16="http://schemas.microsoft.com/office/drawing/2014/main" id="{8D0EA3BD-A093-49DB-B61A-4B3F159B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16459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6">
            <a:extLst xmlns:a="http://schemas.openxmlformats.org/drawingml/2006/main">
              <a:ext uri="{FF2B5EF4-FFF2-40B4-BE49-F238E27FC236}">
                <a16:creationId xmlns:a16="http://schemas.microsoft.com/office/drawing/2014/main" id="{28E8241F-8590-49A8-92B2-F223C2E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8085" y="1664208"/>
            <a:ext cx="24606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450"/>
              <a:buFont typeface="Malgun Gothic"/>
              <a:buNone/>
            </a:pPr>
            <a:r>
              <a:rPr sz="165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원문 근거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6">
            <a:extLst xmlns:a="http://schemas.openxmlformats.org/drawingml/2006/main">
              <a:ext uri="{FF2B5EF4-FFF2-40B4-BE49-F238E27FC236}">
                <a16:creationId xmlns:a16="http://schemas.microsoft.com/office/drawing/2014/main" id="{7086FFBC-7ABB-4739-B5AF-EBF78FF9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2176272"/>
            <a:ext cx="2954426" cy="329184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Google Shape;248;p6">
            <a:extLst xmlns:a="http://schemas.openxmlformats.org/drawingml/2006/main">
              <a:ext uri="{FF2B5EF4-FFF2-40B4-BE49-F238E27FC236}">
                <a16:creationId xmlns:a16="http://schemas.microsoft.com/office/drawing/2014/main" id="{7260BD80-73B8-44D6-B4DA-0848656E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2176272"/>
            <a:ext cx="2954426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50"/>
              <a:buFont typeface="Malgun Gothic"/>
              <a:buNone/>
            </a:pPr>
            <a:r>
              <a:rPr sz="155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주석과 출처 등급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6">
            <a:extLst xmlns:a="http://schemas.openxmlformats.org/drawingml/2006/main">
              <a:ext uri="{FF2B5EF4-FFF2-40B4-BE49-F238E27FC236}">
                <a16:creationId xmlns:a16="http://schemas.microsoft.com/office/drawing/2014/main" id="{92D32998-A55A-48A7-9F65-3B9F3AA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2615184"/>
            <a:ext cx="2954426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3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상태 변경에 사용한 원문 URL과 짧은 사실 요약을 보존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6">
            <a:extLst xmlns:a="http://schemas.openxmlformats.org/drawingml/2006/main">
              <a:ext uri="{FF2B5EF4-FFF2-40B4-BE49-F238E27FC236}">
                <a16:creationId xmlns:a16="http://schemas.microsoft.com/office/drawing/2014/main" id="{E03D4E14-95EB-4C9F-87E6-DEF056F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03904"/>
            <a:ext cx="512064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DEEF0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Google Shape;251;p6">
            <a:extLst xmlns:a="http://schemas.openxmlformats.org/drawingml/2006/main">
              <a:ext uri="{FF2B5EF4-FFF2-40B4-BE49-F238E27FC236}">
                <a16:creationId xmlns:a16="http://schemas.microsoft.com/office/drawing/2014/main" id="{E68E3EF5-EE93-44AC-8F8E-8CF4D8E5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96849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4B5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C94B5F"/>
                </a:solidFill>
                <a:latin typeface="Malgun Gothic"/>
                <a:ea typeface="Malgun Gothic"/>
                <a:cs typeface="Malgun Gothic"/>
              </a:rPr>
              <a:t>추가 장치 — 추정 금지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6">
            <a:extLst xmlns:a="http://schemas.openxmlformats.org/drawingml/2006/main">
              <a:ext uri="{FF2B5EF4-FFF2-40B4-BE49-F238E27FC236}">
                <a16:creationId xmlns:a16="http://schemas.microsoft.com/office/drawing/2014/main" id="{6138BB51-DC87-402F-B94B-723EF5B0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97680"/>
            <a:ext cx="45720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2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결렬 사유·찬반투표안·기존 대비 변경은 기사 원문에 명시될 때만 표시하며, 확인되지 않은 항목은 빈 칸으로 유지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84" name="Google Shape;253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8795fce33140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0176" y="3803904"/>
            <a:ext cx="5641848" cy="23317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5" name="Google Shape;255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befa89509e4d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6" name="Google Shape;256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8dfdf839a441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7" name="Google Shape;25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a72b8d80d74b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639719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Google Shape;263;p7">
            <a:extLst xmlns:a="http://schemas.openxmlformats.org/drawingml/2006/main">
              <a:ext uri="{FF2B5EF4-FFF2-40B4-BE49-F238E27FC236}">
                <a16:creationId xmlns:a16="http://schemas.microsoft.com/office/drawing/2014/main" id="{192F4FC8-8B64-4132-81B5-CD9105A0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FEATURE 03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7">
            <a:extLst xmlns:a="http://schemas.openxmlformats.org/drawingml/2006/main">
              <a:ext uri="{FF2B5EF4-FFF2-40B4-BE49-F238E27FC236}">
                <a16:creationId xmlns:a16="http://schemas.microsoft.com/office/drawing/2014/main" id="{7BB17F97-9C64-4504-BE1C-E7451D6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과거 기록도 결과가 아니라 교섭의 흐름으로 확장한다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7">
            <a:extLst xmlns:a="http://schemas.openxmlformats.org/drawingml/2006/main">
              <a:ext uri="{FF2B5EF4-FFF2-40B4-BE49-F238E27FC236}">
                <a16:creationId xmlns:a16="http://schemas.microsoft.com/office/drawing/2014/main" id="{CDF2136B-968F-42B2-ACE9-A786E37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93" name="Google Shape;26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c8aec0f55f46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389888"/>
            <a:ext cx="6766560" cy="42885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7" name="Google Shape;267;p7">
            <a:extLst xmlns:a="http://schemas.openxmlformats.org/drawingml/2006/main">
              <a:ext uri="{FF2B5EF4-FFF2-40B4-BE49-F238E27FC236}">
                <a16:creationId xmlns:a16="http://schemas.microsoft.com/office/drawing/2014/main" id="{DF6F3345-1FF9-4F5B-AE1C-E4651F49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89888"/>
            <a:ext cx="6766560" cy="4288536"/>
          </a:xfrm>
          <a:prstGeom xmlns:a="http://schemas.openxmlformats.org/drawingml/2006/main" prst="roundRect">
            <a:avLst>
              <a:gd name="adj" fmla="val 853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Google Shape;268;p7">
            <a:extLst xmlns:a="http://schemas.openxmlformats.org/drawingml/2006/main">
              <a:ext uri="{FF2B5EF4-FFF2-40B4-BE49-F238E27FC236}">
                <a16:creationId xmlns:a16="http://schemas.microsoft.com/office/drawing/2014/main" id="{1DA35929-B7B2-49F7-A5D3-31133E9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38988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7">
            <a:extLst xmlns:a="http://schemas.openxmlformats.org/drawingml/2006/main">
              <a:ext uri="{FF2B5EF4-FFF2-40B4-BE49-F238E27FC236}">
                <a16:creationId xmlns:a16="http://schemas.microsoft.com/office/drawing/2014/main" id="{EE555831-7DAA-497F-A657-7F4BB1FE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38988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7">
            <a:extLst xmlns:a="http://schemas.openxmlformats.org/drawingml/2006/main">
              <a:ext uri="{FF2B5EF4-FFF2-40B4-BE49-F238E27FC236}">
                <a16:creationId xmlns:a16="http://schemas.microsoft.com/office/drawing/2014/main" id="{D2580243-0787-45DC-9CA8-F13B6A20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37160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단계별 경과 보존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7">
            <a:extLst xmlns:a="http://schemas.openxmlformats.org/drawingml/2006/main">
              <a:ext uri="{FF2B5EF4-FFF2-40B4-BE49-F238E27FC236}">
                <a16:creationId xmlns:a16="http://schemas.microsoft.com/office/drawing/2014/main" id="{8EB12BEE-D45F-4AB6-8211-A1CCFAA9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64592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요구안·교섭·교착·인준·체결 이벤트를 날짜순으로 연결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7">
            <a:extLst xmlns:a="http://schemas.openxmlformats.org/drawingml/2006/main">
              <a:ext uri="{FF2B5EF4-FFF2-40B4-BE49-F238E27FC236}">
                <a16:creationId xmlns:a16="http://schemas.microsoft.com/office/drawing/2014/main" id="{C48E5BC3-8945-4B99-B5E4-A1AEFC34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48716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7">
            <a:extLst xmlns:a="http://schemas.openxmlformats.org/drawingml/2006/main">
              <a:ext uri="{FF2B5EF4-FFF2-40B4-BE49-F238E27FC236}">
                <a16:creationId xmlns:a16="http://schemas.microsoft.com/office/drawing/2014/main" id="{0DE72787-8472-421F-8E46-BD7AF7E2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48716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7">
            <a:extLst xmlns:a="http://schemas.openxmlformats.org/drawingml/2006/main">
              <a:ext uri="{FF2B5EF4-FFF2-40B4-BE49-F238E27FC236}">
                <a16:creationId xmlns:a16="http://schemas.microsoft.com/office/drawing/2014/main" id="{090C5DAB-B23B-4AAB-8786-4B3A9C6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46888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종결·이월 파생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7">
            <a:extLst xmlns:a="http://schemas.openxmlformats.org/drawingml/2006/main">
              <a:ext uri="{FF2B5EF4-FFF2-40B4-BE49-F238E27FC236}">
                <a16:creationId xmlns:a16="http://schemas.microsoft.com/office/drawing/2014/main" id="{3B28D6A1-5641-4AB0-A88B-79416515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74320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조인·서명 근거와 연도 경과로 보수적으로 판정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7">
            <a:extLst xmlns:a="http://schemas.openxmlformats.org/drawingml/2006/main">
              <a:ext uri="{FF2B5EF4-FFF2-40B4-BE49-F238E27FC236}">
                <a16:creationId xmlns:a16="http://schemas.microsoft.com/office/drawing/2014/main" id="{485FC8CC-02AD-4461-B94B-E3C9361C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58444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7">
            <a:extLst xmlns:a="http://schemas.openxmlformats.org/drawingml/2006/main">
              <a:ext uri="{FF2B5EF4-FFF2-40B4-BE49-F238E27FC236}">
                <a16:creationId xmlns:a16="http://schemas.microsoft.com/office/drawing/2014/main" id="{ECFE1275-6F25-40F8-BF47-1CA16576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584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7">
            <a:extLst xmlns:a="http://schemas.openxmlformats.org/drawingml/2006/main">
              <a:ext uri="{FF2B5EF4-FFF2-40B4-BE49-F238E27FC236}">
                <a16:creationId xmlns:a16="http://schemas.microsoft.com/office/drawing/2014/main" id="{88D62193-4936-4DCE-BE10-8B8C4A64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56616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결과만 확인 구분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7">
            <a:extLst xmlns:a="http://schemas.openxmlformats.org/drawingml/2006/main">
              <a:ext uri="{FF2B5EF4-FFF2-40B4-BE49-F238E27FC236}">
                <a16:creationId xmlns:a16="http://schemas.microsoft.com/office/drawing/2014/main" id="{A6DB0A35-EC1E-4253-AA7D-993682F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84048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과거 경과가 없으면 투명하게 별도 표시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7">
            <a:extLst xmlns:a="http://schemas.openxmlformats.org/drawingml/2006/main">
              <a:ext uri="{FF2B5EF4-FFF2-40B4-BE49-F238E27FC236}">
                <a16:creationId xmlns:a16="http://schemas.microsoft.com/office/drawing/2014/main" id="{33B6FAA1-00B9-40A4-AD01-27EB7B3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68172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7">
            <a:extLst xmlns:a="http://schemas.openxmlformats.org/drawingml/2006/main">
              <a:ext uri="{FF2B5EF4-FFF2-40B4-BE49-F238E27FC236}">
                <a16:creationId xmlns:a16="http://schemas.microsoft.com/office/drawing/2014/main" id="{DEA6D8CF-7776-4D94-AD5F-9772ADC0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68172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Google Shape;282;p7">
            <a:extLst xmlns:a="http://schemas.openxmlformats.org/drawingml/2006/main">
              <a:ext uri="{FF2B5EF4-FFF2-40B4-BE49-F238E27FC236}">
                <a16:creationId xmlns:a16="http://schemas.microsoft.com/office/drawing/2014/main" id="{6E9F2AF1-B626-4E3C-A602-017D229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66344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이벤트별 원문 연결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Google Shape;283;p7">
            <a:extLst xmlns:a="http://schemas.openxmlformats.org/drawingml/2006/main">
              <a:ext uri="{FF2B5EF4-FFF2-40B4-BE49-F238E27FC236}">
                <a16:creationId xmlns:a16="http://schemas.microsoft.com/office/drawing/2014/main" id="{AF383526-5EAB-4F74-8F92-14F9BE20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93776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각 단계의 확인 근거를 기사 URL로 추적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1" name="Google Shape;287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9bad68d6ee48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2" name="Google Shape;288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40e38c42604b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3" name="Google Shape;28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ab231615e341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98119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Google Shape;263;p7">
            <a:extLst xmlns:a="http://schemas.openxmlformats.org/drawingml/2006/main">
              <a:ext uri="{FF2B5EF4-FFF2-40B4-BE49-F238E27FC236}">
                <a16:creationId xmlns:a16="http://schemas.microsoft.com/office/drawing/2014/main" id="{192F4FC8-8B64-4132-81B5-CD9105A0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FEATURE 04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7">
            <a:extLst xmlns:a="http://schemas.openxmlformats.org/drawingml/2006/main">
              <a:ext uri="{FF2B5EF4-FFF2-40B4-BE49-F238E27FC236}">
                <a16:creationId xmlns:a16="http://schemas.microsoft.com/office/drawing/2014/main" id="{7BB17F97-9C64-4504-BE1C-E7451D6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하나의 대시보드를 웹과 모바일에서 함께 사용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7">
            <a:extLst xmlns:a="http://schemas.openxmlformats.org/drawingml/2006/main">
              <a:ext uri="{FF2B5EF4-FFF2-40B4-BE49-F238E27FC236}">
                <a16:creationId xmlns:a16="http://schemas.microsoft.com/office/drawing/2014/main" id="{CDF2136B-968F-42B2-ACE9-A786E37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7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Google Shape;267;p7">
            <a:extLst xmlns:a="http://schemas.openxmlformats.org/drawingml/2006/main">
              <a:ext uri="{FF2B5EF4-FFF2-40B4-BE49-F238E27FC236}">
                <a16:creationId xmlns:a16="http://schemas.microsoft.com/office/drawing/2014/main" id="{DF6F3345-1FF9-4F5B-AE1C-E4651F49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89888"/>
            <a:ext cx="6766560" cy="4288536"/>
          </a:xfrm>
          <a:prstGeom xmlns:a="http://schemas.openxmlformats.org/drawingml/2006/main" prst="roundRect">
            <a:avLst>
              <a:gd name="adj" fmla="val 853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Google Shape;268;p7">
            <a:extLst xmlns:a="http://schemas.openxmlformats.org/drawingml/2006/main">
              <a:ext uri="{FF2B5EF4-FFF2-40B4-BE49-F238E27FC236}">
                <a16:creationId xmlns:a16="http://schemas.microsoft.com/office/drawing/2014/main" id="{1DA35929-B7B2-49F7-A5D3-31133E9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38988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7">
            <a:extLst xmlns:a="http://schemas.openxmlformats.org/drawingml/2006/main">
              <a:ext uri="{FF2B5EF4-FFF2-40B4-BE49-F238E27FC236}">
                <a16:creationId xmlns:a16="http://schemas.microsoft.com/office/drawing/2014/main" id="{EE555831-7DAA-497F-A657-7F4BB1FE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38988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7">
            <a:extLst xmlns:a="http://schemas.openxmlformats.org/drawingml/2006/main">
              <a:ext uri="{FF2B5EF4-FFF2-40B4-BE49-F238E27FC236}">
                <a16:creationId xmlns:a16="http://schemas.microsoft.com/office/drawing/2014/main" id="{D2580243-0787-45DC-9CA8-F13B6A20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37160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같은 데이터·같은 기능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7">
            <a:extLst xmlns:a="http://schemas.openxmlformats.org/drawingml/2006/main">
              <a:ext uri="{FF2B5EF4-FFF2-40B4-BE49-F238E27FC236}">
                <a16:creationId xmlns:a16="http://schemas.microsoft.com/office/drawing/2014/main" id="{8EB12BEE-D45F-4AB6-8211-A1CCFAA9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64592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웹과 모바일 모두 동일한 교섭 기록·단계·원문을 조회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7">
            <a:extLst xmlns:a="http://schemas.openxmlformats.org/drawingml/2006/main">
              <a:ext uri="{FF2B5EF4-FFF2-40B4-BE49-F238E27FC236}">
                <a16:creationId xmlns:a16="http://schemas.microsoft.com/office/drawing/2014/main" id="{C48E5BC3-8945-4B99-B5E4-A1AEFC34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48716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7">
            <a:extLst xmlns:a="http://schemas.openxmlformats.org/drawingml/2006/main">
              <a:ext uri="{FF2B5EF4-FFF2-40B4-BE49-F238E27FC236}">
                <a16:creationId xmlns:a16="http://schemas.microsoft.com/office/drawing/2014/main" id="{0DE72787-8472-421F-8E46-BD7AF7E2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48716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7">
            <a:extLst xmlns:a="http://schemas.openxmlformats.org/drawingml/2006/main">
              <a:ext uri="{FF2B5EF4-FFF2-40B4-BE49-F238E27FC236}">
                <a16:creationId xmlns:a16="http://schemas.microsoft.com/office/drawing/2014/main" id="{090C5DAB-B23B-4AAB-8786-4B3A9C6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46888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화면 크기에 맞춰 재배치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7">
            <a:extLst xmlns:a="http://schemas.openxmlformats.org/drawingml/2006/main">
              <a:ext uri="{FF2B5EF4-FFF2-40B4-BE49-F238E27FC236}">
                <a16:creationId xmlns:a16="http://schemas.microsoft.com/office/drawing/2014/main" id="{3B28D6A1-5641-4AB0-A88B-79416515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74320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넓은 화면은 비교 중심, 모바일은 세로 탐색 중심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7">
            <a:extLst xmlns:a="http://schemas.openxmlformats.org/drawingml/2006/main">
              <a:ext uri="{FF2B5EF4-FFF2-40B4-BE49-F238E27FC236}">
                <a16:creationId xmlns:a16="http://schemas.microsoft.com/office/drawing/2014/main" id="{485FC8CC-02AD-4461-B94B-E3C9361C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58444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7">
            <a:extLst xmlns:a="http://schemas.openxmlformats.org/drawingml/2006/main">
              <a:ext uri="{FF2B5EF4-FFF2-40B4-BE49-F238E27FC236}">
                <a16:creationId xmlns:a16="http://schemas.microsoft.com/office/drawing/2014/main" id="{ECFE1275-6F25-40F8-BF47-1CA16576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584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7">
            <a:extLst xmlns:a="http://schemas.openxmlformats.org/drawingml/2006/main">
              <a:ext uri="{FF2B5EF4-FFF2-40B4-BE49-F238E27FC236}">
                <a16:creationId xmlns:a16="http://schemas.microsoft.com/office/drawing/2014/main" id="{88D62193-4936-4DCE-BE10-8B8C4A64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56616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별도 앱 개발 부담 감소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7">
            <a:extLst xmlns:a="http://schemas.openxmlformats.org/drawingml/2006/main">
              <a:ext uri="{FF2B5EF4-FFF2-40B4-BE49-F238E27FC236}">
                <a16:creationId xmlns:a16="http://schemas.microsoft.com/office/drawing/2014/main" id="{A6DB0A35-EC1E-4253-AA7D-993682F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84048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반응형 웹으로 브라우저에서 즉시 사용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7">
            <a:extLst xmlns:a="http://schemas.openxmlformats.org/drawingml/2006/main">
              <a:ext uri="{FF2B5EF4-FFF2-40B4-BE49-F238E27FC236}">
                <a16:creationId xmlns:a16="http://schemas.microsoft.com/office/drawing/2014/main" id="{33B6FAA1-00B9-40A4-AD01-27EB7B3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681728"/>
            <a:ext cx="3474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43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7">
            <a:extLst xmlns:a="http://schemas.openxmlformats.org/drawingml/2006/main">
              <a:ext uri="{FF2B5EF4-FFF2-40B4-BE49-F238E27FC236}">
                <a16:creationId xmlns:a16="http://schemas.microsoft.com/office/drawing/2014/main" id="{DEA6D8CF-7776-4D94-AD5F-9772ADC0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68172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Google Shape;282;p7">
            <a:extLst xmlns:a="http://schemas.openxmlformats.org/drawingml/2006/main">
              <a:ext uri="{FF2B5EF4-FFF2-40B4-BE49-F238E27FC236}">
                <a16:creationId xmlns:a16="http://schemas.microsoft.com/office/drawing/2014/main" id="{6E9F2AF1-B626-4E3C-A602-017D229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663440"/>
            <a:ext cx="3523183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5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추적 회사 확장도 동일 반영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Google Shape;283;p7">
            <a:extLst xmlns:a="http://schemas.openxmlformats.org/drawingml/2006/main">
              <a:ext uri="{FF2B5EF4-FFF2-40B4-BE49-F238E27FC236}">
                <a16:creationId xmlns:a16="http://schemas.microsoft.com/office/drawing/2014/main" id="{AF383526-5EAB-4F74-8F92-14F9BE20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937760"/>
            <a:ext cx="3523183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sz="125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회사 추가 시 웹·모바일 화면에 함께 노출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7">
            <a:extLst xmlns:a="http://schemas.openxmlformats.org/drawingml/2006/main">
              <a:ext uri="{FF2B5EF4-FFF2-40B4-BE49-F238E27FC236}">
                <a16:creationId xmlns:a16="http://schemas.microsoft.com/office/drawing/2014/main" id="{ACEB0196-B30B-46FB-8CCE-5536645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0448"/>
            <a:ext cx="11057839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Google Shape;285;p7">
            <a:extLst xmlns:a="http://schemas.openxmlformats.org/drawingml/2006/main">
              <a:ext uri="{FF2B5EF4-FFF2-40B4-BE49-F238E27FC236}">
                <a16:creationId xmlns:a16="http://schemas.microsoft.com/office/drawing/2014/main" id="{8BDC20CE-74A2-4C02-A8FA-AA86414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961888"/>
            <a:ext cx="10472623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None/>
            </a:pPr>
            <a:r>
              <a:rPr sz="15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PC·태블릿·모바일에서 같은 최신 교섭현황을 제공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3" name="Google Shape;287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6af2ab850b40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4" name="Google Shape;288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c49754c64e41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5" name="Google Shape;28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d619252d3149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3e6a013c94e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389888"/>
            <a:ext cx="6766560" cy="42885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19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" name="Google Shape;295;p8">
            <a:extLst xmlns:a="http://schemas.openxmlformats.org/drawingml/2006/main">
              <a:ext uri="{FF2B5EF4-FFF2-40B4-BE49-F238E27FC236}">
                <a16:creationId xmlns:a16="http://schemas.microsoft.com/office/drawing/2014/main" id="{FE4F74E0-590D-4984-BAF5-78F4FBD9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DETAIL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6" name="Google Shape;296;p8">
            <a:extLst xmlns:a="http://schemas.openxmlformats.org/drawingml/2006/main">
              <a:ext uri="{FF2B5EF4-FFF2-40B4-BE49-F238E27FC236}">
                <a16:creationId xmlns:a16="http://schemas.microsoft.com/office/drawing/2014/main" id="{7A47C7D1-ECE6-4C46-A6CE-04CF3354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오분류를 막는 세 가지 규칙을 코드와 회귀 테스트로 고정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8">
            <a:extLst xmlns:a="http://schemas.openxmlformats.org/drawingml/2006/main">
              <a:ext uri="{FF2B5EF4-FFF2-40B4-BE49-F238E27FC236}">
                <a16:creationId xmlns:a16="http://schemas.microsoft.com/office/drawing/2014/main" id="{C39A1C05-3E73-4800-A28F-07CFE11E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8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8" name="Google Shape;298;p8">
            <a:extLst xmlns:a="http://schemas.openxmlformats.org/drawingml/2006/main">
              <a:ext uri="{FF2B5EF4-FFF2-40B4-BE49-F238E27FC236}">
                <a16:creationId xmlns:a16="http://schemas.microsoft.com/office/drawing/2014/main" id="{6697C09F-9B08-49F0-80D5-070D94B9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08176"/>
            <a:ext cx="3466490" cy="411480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Google Shape;299;p8">
            <a:extLst xmlns:a="http://schemas.openxmlformats.org/drawingml/2006/main">
              <a:ext uri="{FF2B5EF4-FFF2-40B4-BE49-F238E27FC236}">
                <a16:creationId xmlns:a16="http://schemas.microsoft.com/office/drawing/2014/main" id="{01972301-F016-425F-B3BC-310D5498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2397"/>
            <a:ext cx="384000" cy="3840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C94B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Google Shape;300;p8">
            <a:extLst xmlns:a="http://schemas.openxmlformats.org/drawingml/2006/main">
              <a:ext uri="{FF2B5EF4-FFF2-40B4-BE49-F238E27FC236}">
                <a16:creationId xmlns:a16="http://schemas.microsoft.com/office/drawing/2014/main" id="{DCE4385A-7F8D-4A4F-A558-4EB1A2E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2397"/>
            <a:ext cx="3840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1" name="Google Shape;301;p8">
            <a:extLst xmlns:a="http://schemas.openxmlformats.org/drawingml/2006/main">
              <a:ext uri="{FF2B5EF4-FFF2-40B4-BE49-F238E27FC236}">
                <a16:creationId xmlns:a16="http://schemas.microsoft.com/office/drawing/2014/main" id="{C493230A-AE94-4EB2-9580-91DB14CA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00" y="1780150"/>
            <a:ext cx="2478900" cy="7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50"/>
              <a:buFont typeface="Malgun Gothic"/>
              <a:buNone/>
            </a:pPr>
            <a:r>
              <a:rPr sz="16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범위 게이트가 단계보다 먼저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2" name="Google Shape;302;p8">
            <a:extLst xmlns:a="http://schemas.openxmlformats.org/drawingml/2006/main">
              <a:ext uri="{FF2B5EF4-FFF2-40B4-BE49-F238E27FC236}">
                <a16:creationId xmlns:a16="http://schemas.microsoft.com/office/drawing/2014/main" id="{EA26E1E9-A0FC-4CF6-836E-330D9B3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88156"/>
            <a:ext cx="2954400" cy="20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원청 직접고용 노조만 공개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하청·계열사·혼합·불명확은 별도 검토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회사가 같아도 교섭 주체가 다르면 분리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Google Shape;303;p8">
            <a:extLst xmlns:a="http://schemas.openxmlformats.org/drawingml/2006/main">
              <a:ext uri="{FF2B5EF4-FFF2-40B4-BE49-F238E27FC236}">
                <a16:creationId xmlns:a16="http://schemas.microsoft.com/office/drawing/2014/main" id="{495FB2A7-822B-4A25-B8B3-7534E7AC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1408176"/>
            <a:ext cx="3466490" cy="411480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Google Shape;304;p8">
            <a:extLst xmlns:a="http://schemas.openxmlformats.org/drawingml/2006/main">
              <a:ext uri="{FF2B5EF4-FFF2-40B4-BE49-F238E27FC236}">
                <a16:creationId xmlns:a16="http://schemas.microsoft.com/office/drawing/2014/main" id="{75EC981B-0BEE-4F4B-BE26-4471A4BE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1862397"/>
            <a:ext cx="384000" cy="3840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C94B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Google Shape;305;p8">
            <a:extLst xmlns:a="http://schemas.openxmlformats.org/drawingml/2006/main">
              <a:ext uri="{FF2B5EF4-FFF2-40B4-BE49-F238E27FC236}">
                <a16:creationId xmlns:a16="http://schemas.microsoft.com/office/drawing/2014/main" id="{78E9DEAA-AAAB-4478-BC9E-F41A47D2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1862397"/>
            <a:ext cx="3840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6" name="Google Shape;306;p8">
            <a:extLst xmlns:a="http://schemas.openxmlformats.org/drawingml/2006/main">
              <a:ext uri="{FF2B5EF4-FFF2-40B4-BE49-F238E27FC236}">
                <a16:creationId xmlns:a16="http://schemas.microsoft.com/office/drawing/2014/main" id="{E71290AC-33C3-4915-89AA-8F7671B0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974" y="1664700"/>
            <a:ext cx="2478900" cy="7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50"/>
              <a:buFont typeface="Malgun Gothic"/>
              <a:buNone/>
            </a:pPr>
            <a:r>
              <a:rPr sz="16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가결·쟁의·체결을 분리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Google Shape;307;p8">
            <a:extLst xmlns:a="http://schemas.openxmlformats.org/drawingml/2006/main">
              <a:ext uri="{FF2B5EF4-FFF2-40B4-BE49-F238E27FC236}">
                <a16:creationId xmlns:a16="http://schemas.microsoft.com/office/drawing/2014/main" id="{A7829E80-23B1-4486-A5BC-644D5243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34" y="2988156"/>
            <a:ext cx="2954400" cy="20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파업 찬반투표는 인준이 아님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조합원 가결은 S6, 서명·발효는 S7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낮은 단계 기사로 상태가 내려가지 않게 방어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p8">
            <a:extLst xmlns:a="http://schemas.openxmlformats.org/drawingml/2006/main">
              <a:ext uri="{FF2B5EF4-FFF2-40B4-BE49-F238E27FC236}">
                <a16:creationId xmlns:a16="http://schemas.microsoft.com/office/drawing/2014/main" id="{72471BD6-FE03-4540-B120-4ACAA572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1408176"/>
            <a:ext cx="3466490" cy="411480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Google Shape;309;p8">
            <a:extLst xmlns:a="http://schemas.openxmlformats.org/drawingml/2006/main">
              <a:ext uri="{FF2B5EF4-FFF2-40B4-BE49-F238E27FC236}">
                <a16:creationId xmlns:a16="http://schemas.microsoft.com/office/drawing/2014/main" id="{7C6F728E-8A80-4D5F-806A-AE7C9D4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1862397"/>
            <a:ext cx="384000" cy="3840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C94B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Google Shape;310;p8">
            <a:extLst xmlns:a="http://schemas.openxmlformats.org/drawingml/2006/main">
              <a:ext uri="{FF2B5EF4-FFF2-40B4-BE49-F238E27FC236}">
                <a16:creationId xmlns:a16="http://schemas.microsoft.com/office/drawing/2014/main" id="{1EF36D93-ABE6-4088-AFD8-8871C180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1862397"/>
            <a:ext cx="3840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sz="130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1" name="Google Shape;311;p8">
            <a:extLst xmlns:a="http://schemas.openxmlformats.org/drawingml/2006/main">
              <a:ext uri="{FF2B5EF4-FFF2-40B4-BE49-F238E27FC236}">
                <a16:creationId xmlns:a16="http://schemas.microsoft.com/office/drawing/2014/main" id="{7DC6F40D-38FC-4CDD-BF67-7E35CE4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835" y="1780152"/>
            <a:ext cx="2739300" cy="7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50"/>
              <a:buFont typeface="Malgun Gothic"/>
              <a:buNone/>
            </a:pPr>
            <a:r>
              <a:rPr sz="16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추적 회사를 계속 확장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p8">
            <a:extLst xmlns:a="http://schemas.openxmlformats.org/drawingml/2006/main">
              <a:ext uri="{FF2B5EF4-FFF2-40B4-BE49-F238E27FC236}">
                <a16:creationId xmlns:a16="http://schemas.microsoft.com/office/drawing/2014/main" id="{C5BDFDAD-9173-4DC2-B479-4F0936D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2988156"/>
            <a:ext cx="2954400" cy="20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현재 12개사를 기준으로 운영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회사 추가 시 과거 데이터도 같은 프레임으로 수집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1450" marR="0" lvl="0" indent="-17145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회사·연도·단계별 조회에 함께 반영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36" name="Google Shape;316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d71f92890e43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7" name="Google Shape;31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bcbf2775a54e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8" name="Google Shape;318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3bdb35a31e4d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25173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Google Shape;324;p9">
            <a:extLst xmlns:a="http://schemas.openxmlformats.org/drawingml/2006/main">
              <a:ext uri="{FF2B5EF4-FFF2-40B4-BE49-F238E27FC236}">
                <a16:creationId xmlns:a16="http://schemas.microsoft.com/office/drawing/2014/main" id="{DACFA203-5AFC-4F0E-A59F-B6ACF87B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TECH STACK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5" name="Google Shape;325;p9">
            <a:extLst xmlns:a="http://schemas.openxmlformats.org/drawingml/2006/main">
              <a:ext uri="{FF2B5EF4-FFF2-40B4-BE49-F238E27FC236}">
                <a16:creationId xmlns:a16="http://schemas.microsoft.com/office/drawing/2014/main" id="{68DDAE8B-D709-4824-9028-8D54A45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수집·검증·저장·배포를 운영 파이프라인으로 연결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Google Shape;326;p9">
            <a:extLst xmlns:a="http://schemas.openxmlformats.org/drawingml/2006/main">
              <a:ext uri="{FF2B5EF4-FFF2-40B4-BE49-F238E27FC236}">
                <a16:creationId xmlns:a16="http://schemas.microsoft.com/office/drawing/2014/main" id="{D39D587A-C842-42D2-91BD-2E81A56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9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7" name="Google Shape;327;p9">
            <a:extLst xmlns:a="http://schemas.openxmlformats.org/drawingml/2006/main">
              <a:ext uri="{FF2B5EF4-FFF2-40B4-BE49-F238E27FC236}">
                <a16:creationId xmlns:a16="http://schemas.microsoft.com/office/drawing/2014/main" id="{3B489C4F-3361-4D83-A38F-19A3D95B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08176"/>
            <a:ext cx="3466490" cy="448056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Google Shape;328;p9">
            <a:extLst xmlns:a="http://schemas.openxmlformats.org/drawingml/2006/main">
              <a:ext uri="{FF2B5EF4-FFF2-40B4-BE49-F238E27FC236}">
                <a16:creationId xmlns:a16="http://schemas.microsoft.com/office/drawing/2014/main" id="{029C881B-58F2-423A-9B5F-1851EB00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37360"/>
            <a:ext cx="29178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900" b="1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웹·표현 계층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p9">
            <a:extLst xmlns:a="http://schemas.openxmlformats.org/drawingml/2006/main">
              <a:ext uri="{FF2B5EF4-FFF2-40B4-BE49-F238E27FC236}">
                <a16:creationId xmlns:a16="http://schemas.microsoft.com/office/drawing/2014/main" id="{5A646009-DEC2-4D32-B9E7-D10E6645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1"/>
            <a:ext cx="291785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800"/>
              <a:buFont typeface="Malgun Gothic"/>
              <a:buNone/>
            </a:pPr>
            <a:r>
              <a:rPr sz="22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Cloudflare Workers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" name="Google Shape;330;p9">
            <a:extLst xmlns:a="http://schemas.openxmlformats.org/drawingml/2006/main">
              <a:ext uri="{FF2B5EF4-FFF2-40B4-BE49-F238E27FC236}">
                <a16:creationId xmlns:a16="http://schemas.microsoft.com/office/drawing/2014/main" id="{7ED23B97-3B77-4219-819F-21761DE9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74" y="2788925"/>
            <a:ext cx="3384900" cy="292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Vinext 기반 대시보드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회사·연도·단계 검색과 근거 주석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공개 URL + 검색 비노출 정책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1" name="Google Shape;331;p9">
            <a:extLst xmlns:a="http://schemas.openxmlformats.org/drawingml/2006/main">
              <a:ext uri="{FF2B5EF4-FFF2-40B4-BE49-F238E27FC236}">
                <a16:creationId xmlns:a16="http://schemas.microsoft.com/office/drawing/2014/main" id="{A76DE7DD-083C-4AA0-AAF2-6619F82C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1408176"/>
            <a:ext cx="3466490" cy="448056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Google Shape;332;p9">
            <a:extLst xmlns:a="http://schemas.openxmlformats.org/drawingml/2006/main">
              <a:ext uri="{FF2B5EF4-FFF2-40B4-BE49-F238E27FC236}">
                <a16:creationId xmlns:a16="http://schemas.microsoft.com/office/drawing/2014/main" id="{4666AA4B-B378-4B25-AC63-8B5F0A56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1737360"/>
            <a:ext cx="29178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00"/>
              <a:buFont typeface="Malgun Gothic"/>
              <a:buNone/>
            </a:pPr>
            <a:r>
              <a:rPr sz="1900" b="1" i="0" u="none" cap="none">
                <a:solidFill>
                  <a:srgbClr val="004381"/>
                </a:solidFill>
                <a:latin typeface="Malgun Gothic"/>
                <a:ea typeface="Malgun Gothic"/>
                <a:cs typeface="Malgun Gothic"/>
              </a:rPr>
              <a:t>자동화 계층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9">
            <a:extLst xmlns:a="http://schemas.openxmlformats.org/drawingml/2006/main">
              <a:ext uri="{FF2B5EF4-FFF2-40B4-BE49-F238E27FC236}">
                <a16:creationId xmlns:a16="http://schemas.microsoft.com/office/drawing/2014/main" id="{FA70AFEE-E5F2-4D39-8333-34BB2964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2084831"/>
            <a:ext cx="291785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800"/>
              <a:buFont typeface="Malgun Gothic"/>
              <a:buNone/>
            </a:pPr>
            <a:r>
              <a:rPr sz="22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GitHub Actions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Google Shape;334;p9">
            <a:extLst xmlns:a="http://schemas.openxmlformats.org/drawingml/2006/main">
              <a:ext uri="{FF2B5EF4-FFF2-40B4-BE49-F238E27FC236}">
                <a16:creationId xmlns:a16="http://schemas.microsoft.com/office/drawing/2014/main" id="{D2740505-CE7D-4B00-AFBA-7D24603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549" y="2788925"/>
            <a:ext cx="3283200" cy="292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Google News 기반 일일 수집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예비 실행 3회 · 지연 감시 · 결과 메일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LLM이 아닌 규칙 기반 분류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Google Shape;335;p9">
            <a:extLst xmlns:a="http://schemas.openxmlformats.org/drawingml/2006/main">
              <a:ext uri="{FF2B5EF4-FFF2-40B4-BE49-F238E27FC236}">
                <a16:creationId xmlns:a16="http://schemas.microsoft.com/office/drawing/2014/main" id="{4A069A85-9728-4A95-A003-14D6BE92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1408176"/>
            <a:ext cx="3466490" cy="448056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Google Shape;336;p9">
            <a:extLst xmlns:a="http://schemas.openxmlformats.org/drawingml/2006/main">
              <a:ext uri="{FF2B5EF4-FFF2-40B4-BE49-F238E27FC236}">
                <a16:creationId xmlns:a16="http://schemas.microsoft.com/office/drawing/2014/main" id="{78030EDE-B7AD-47B6-B0C1-DD7BBBB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1737360"/>
            <a:ext cx="29178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000"/>
              <a:buFont typeface="Malgun Gothic"/>
              <a:buNone/>
            </a:pPr>
            <a:r>
              <a:rPr sz="19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데이터·검증 계층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p9">
            <a:extLst xmlns:a="http://schemas.openxmlformats.org/drawingml/2006/main">
              <a:ext uri="{FF2B5EF4-FFF2-40B4-BE49-F238E27FC236}">
                <a16:creationId xmlns:a16="http://schemas.microsoft.com/office/drawing/2014/main" id="{EB9DFB15-83B3-48B4-997B-F59FC4DD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084831"/>
            <a:ext cx="291785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800"/>
              <a:buFont typeface="Malgun Gothic"/>
              <a:buNone/>
            </a:pPr>
            <a:r>
              <a:rPr sz="22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Supabase + 규칙 엔진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8" name="Google Shape;338;p9">
            <a:extLst xmlns:a="http://schemas.openxmlformats.org/drawingml/2006/main">
              <a:ext uri="{FF2B5EF4-FFF2-40B4-BE49-F238E27FC236}">
                <a16:creationId xmlns:a16="http://schemas.microsoft.com/office/drawing/2014/main" id="{1A79EE6E-166D-4AA7-8680-3702D242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206" y="2788925"/>
            <a:ext cx="3192300" cy="292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56개 기록 · 79개 이벤트 · 54개 출처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자연키 기준 멱등 적재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" marR="0" lvl="0" indent="30734"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sz="14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35개 회귀 테스트 + 범위 검토 Skill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57" name="Google Shape;34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48afd5c81641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8" name="Google Shape;34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9d0cf005364f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9" name="Google Shape;34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b714ac9f6b47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43818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" name="Google Shape;348;p10">
            <a:extLst xmlns:a="http://schemas.openxmlformats.org/drawingml/2006/main">
              <a:ext uri="{FF2B5EF4-FFF2-40B4-BE49-F238E27FC236}">
                <a16:creationId xmlns:a16="http://schemas.microsoft.com/office/drawing/2014/main" id="{3D01B42E-84CA-45E9-90CA-D7855D08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"/>
            <a:ext cx="1105783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1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NEXT STEPS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9" name="Google Shape;349;p10">
            <a:extLst xmlns:a="http://schemas.openxmlformats.org/drawingml/2006/main">
              <a:ext uri="{FF2B5EF4-FFF2-40B4-BE49-F238E27FC236}">
                <a16:creationId xmlns:a16="http://schemas.microsoft.com/office/drawing/2014/main" id="{AF396662-5FB9-48A2-9138-0E35D490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"/>
            <a:ext cx="11057839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sz="30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DB 기반 운영을 구축하고, 확장 가능한 구조로 완성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0" name="Google Shape;350;p10">
            <a:extLst xmlns:a="http://schemas.openxmlformats.org/drawingml/2006/main">
              <a:ext uri="{FF2B5EF4-FFF2-40B4-BE49-F238E27FC236}">
                <a16:creationId xmlns:a16="http://schemas.microsoft.com/office/drawing/2014/main" id="{336A5D67-2048-46BA-A9B1-B6827651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1426464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sz="1700" b="1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구축 완료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1" name="Google Shape;351;p10">
            <a:extLst xmlns:a="http://schemas.openxmlformats.org/drawingml/2006/main">
              <a:ext uri="{FF2B5EF4-FFF2-40B4-BE49-F238E27FC236}">
                <a16:creationId xmlns:a16="http://schemas.microsoft.com/office/drawing/2014/main" id="{38FC2F59-ECC8-47D3-973D-2AE2908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1426464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sz="1700" b="1" i="0" u="none" cap="none">
                <a:solidFill>
                  <a:srgbClr val="0098D9"/>
                </a:solidFill>
                <a:latin typeface="Malgun Gothic"/>
                <a:ea typeface="Malgun Gothic"/>
                <a:cs typeface="Malgun Gothic"/>
              </a:rPr>
              <a:t>확장 방향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2" name="Google Shape;352;p10">
            <a:extLst xmlns:a="http://schemas.openxmlformats.org/drawingml/2006/main">
              <a:ext uri="{FF2B5EF4-FFF2-40B4-BE49-F238E27FC236}">
                <a16:creationId xmlns:a16="http://schemas.microsoft.com/office/drawing/2014/main" id="{65569205-67DE-4CD4-887B-9DFCC018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73936"/>
            <a:ext cx="11057839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Google Shape;353;p10">
            <a:extLst xmlns:a="http://schemas.openxmlformats.org/drawingml/2006/main">
              <a:ext uri="{FF2B5EF4-FFF2-40B4-BE49-F238E27FC236}">
                <a16:creationId xmlns:a16="http://schemas.microsoft.com/office/drawing/2014/main" id="{818ECF7C-9390-4A14-9EC6-E9C1BF4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0" y="1993400"/>
            <a:ext cx="24564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9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데이터베이스</a:t>
            </a:r>
            <a:endParaRPr sz="190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4" name="Google Shape;354;p10">
            <a:extLst xmlns:a="http://schemas.openxmlformats.org/drawingml/2006/main">
              <a:ext uri="{FF2B5EF4-FFF2-40B4-BE49-F238E27FC236}">
                <a16:creationId xmlns:a16="http://schemas.microsoft.com/office/drawing/2014/main" id="{5BB02BC6-A1B2-4C88-AB74-3C8F006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01168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Supabase에 12개사 교섭 기록 저장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5" name="Google Shape;355;p10">
            <a:extLst xmlns:a="http://schemas.openxmlformats.org/drawingml/2006/main">
              <a:ext uri="{FF2B5EF4-FFF2-40B4-BE49-F238E27FC236}">
                <a16:creationId xmlns:a16="http://schemas.microsoft.com/office/drawing/2014/main" id="{349656DA-55F8-441E-AA51-AD1DB5C6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73" y="2103125"/>
            <a:ext cx="433800" cy="1098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Google Shape;356;p10">
            <a:extLst xmlns:a="http://schemas.openxmlformats.org/drawingml/2006/main">
              <a:ext uri="{FF2B5EF4-FFF2-40B4-BE49-F238E27FC236}">
                <a16:creationId xmlns:a16="http://schemas.microsoft.com/office/drawing/2014/main" id="{6E2F4F3B-B277-4E1F-A005-F8C0092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011680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 회사·연도 데이터도 같은 구조로 추가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7" name="Google Shape;357;p10">
            <a:extLst xmlns:a="http://schemas.openxmlformats.org/drawingml/2006/main">
              <a:ext uri="{FF2B5EF4-FFF2-40B4-BE49-F238E27FC236}">
                <a16:creationId xmlns:a16="http://schemas.microsoft.com/office/drawing/2014/main" id="{536182B5-3DC8-42A2-954A-BCA3B78C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33472"/>
            <a:ext cx="11057839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8" name="Google Shape;358;p10">
            <a:extLst xmlns:a="http://schemas.openxmlformats.org/drawingml/2006/main">
              <a:ext uri="{FF2B5EF4-FFF2-40B4-BE49-F238E27FC236}">
                <a16:creationId xmlns:a16="http://schemas.microsoft.com/office/drawing/2014/main" id="{AC3A03EA-7225-44A9-A0E3-733E43DE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0" y="2852933"/>
            <a:ext cx="24564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9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자동 수집</a:t>
            </a:r>
            <a:endParaRPr sz="190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9" name="Google Shape;359;p10">
            <a:extLst xmlns:a="http://schemas.openxmlformats.org/drawingml/2006/main">
              <a:ext uri="{FF2B5EF4-FFF2-40B4-BE49-F238E27FC236}">
                <a16:creationId xmlns:a16="http://schemas.microsoft.com/office/drawing/2014/main" id="{20680D96-E836-496C-8003-DF6F12A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871216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하루 세 번 뉴스 수집·검증·알림 운영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0" name="Google Shape;360;p10">
            <a:extLst xmlns:a="http://schemas.openxmlformats.org/drawingml/2006/main">
              <a:ext uri="{FF2B5EF4-FFF2-40B4-BE49-F238E27FC236}">
                <a16:creationId xmlns:a16="http://schemas.microsoft.com/office/drawing/2014/main" id="{46794793-58BB-4171-AE4F-DFB25C2E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73" y="2962662"/>
            <a:ext cx="433800" cy="1098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Google Shape;361;p10">
            <a:extLst xmlns:a="http://schemas.openxmlformats.org/drawingml/2006/main">
              <a:ext uri="{FF2B5EF4-FFF2-40B4-BE49-F238E27FC236}">
                <a16:creationId xmlns:a16="http://schemas.microsoft.com/office/drawing/2014/main" id="{428D4790-E13F-4AA6-9D0B-8FFCDF1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871216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검색 채널과 기사 확인 범위를 계속 확대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2" name="Google Shape;362;p10">
            <a:extLst xmlns:a="http://schemas.openxmlformats.org/drawingml/2006/main">
              <a:ext uri="{FF2B5EF4-FFF2-40B4-BE49-F238E27FC236}">
                <a16:creationId xmlns:a16="http://schemas.microsoft.com/office/drawing/2014/main" id="{FEE57279-B013-449E-B149-962940B6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93008"/>
            <a:ext cx="11057839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Google Shape;363;p10">
            <a:extLst xmlns:a="http://schemas.openxmlformats.org/drawingml/2006/main">
              <a:ext uri="{FF2B5EF4-FFF2-40B4-BE49-F238E27FC236}">
                <a16:creationId xmlns:a16="http://schemas.microsoft.com/office/drawing/2014/main" id="{CA4265E7-E3CE-4FAA-9C61-0DE38849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0" y="3712465"/>
            <a:ext cx="24564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9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접근 관리</a:t>
            </a:r>
            <a:endParaRPr sz="190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Google Shape;364;p10">
            <a:extLst xmlns:a="http://schemas.openxmlformats.org/drawingml/2006/main">
              <a:ext uri="{FF2B5EF4-FFF2-40B4-BE49-F238E27FC236}">
                <a16:creationId xmlns:a16="http://schemas.microsoft.com/office/drawing/2014/main" id="{80619408-A12A-4E58-9068-215DC947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3730752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공개 화면과 관리자 기능을 구분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10">
            <a:extLst xmlns:a="http://schemas.openxmlformats.org/drawingml/2006/main">
              <a:ext uri="{FF2B5EF4-FFF2-40B4-BE49-F238E27FC236}">
                <a16:creationId xmlns:a16="http://schemas.microsoft.com/office/drawing/2014/main" id="{A519A623-6A18-447D-9F6B-FF4B2FC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73" y="3822200"/>
            <a:ext cx="433800" cy="1098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Google Shape;366;p10">
            <a:extLst xmlns:a="http://schemas.openxmlformats.org/drawingml/2006/main">
              <a:ext uri="{FF2B5EF4-FFF2-40B4-BE49-F238E27FC236}">
                <a16:creationId xmlns:a16="http://schemas.microsoft.com/office/drawing/2014/main" id="{E3C552DD-4D9F-40B8-BFF4-32BE1C46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730752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회사 추가·수정 요청을 안전하게 관리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7" name="Google Shape;367;p10">
            <a:extLst xmlns:a="http://schemas.openxmlformats.org/drawingml/2006/main">
              <a:ext uri="{FF2B5EF4-FFF2-40B4-BE49-F238E27FC236}">
                <a16:creationId xmlns:a16="http://schemas.microsoft.com/office/drawing/2014/main" id="{0BE16400-F4EE-4F20-ABD2-BBB89008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11057839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" name="Google Shape;368;p10">
            <a:extLst xmlns:a="http://schemas.openxmlformats.org/drawingml/2006/main">
              <a:ext uri="{FF2B5EF4-FFF2-40B4-BE49-F238E27FC236}">
                <a16:creationId xmlns:a16="http://schemas.microsoft.com/office/drawing/2014/main" id="{9B7D3D31-2F05-47F7-B6A3-B495A783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0" y="4571998"/>
            <a:ext cx="24564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9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과거 데이터</a:t>
            </a:r>
            <a:endParaRPr sz="190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Google Shape;369;p10">
            <a:extLst xmlns:a="http://schemas.openxmlformats.org/drawingml/2006/main">
              <a:ext uri="{FF2B5EF4-FFF2-40B4-BE49-F238E27FC236}">
                <a16:creationId xmlns:a16="http://schemas.microsoft.com/office/drawing/2014/main" id="{4A9BDE54-1DA2-47FF-BAC6-D36303DA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4590288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12개사·최근 5개년 자료를 체계화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Google Shape;370;p10">
            <a:extLst xmlns:a="http://schemas.openxmlformats.org/drawingml/2006/main">
              <a:ext uri="{FF2B5EF4-FFF2-40B4-BE49-F238E27FC236}">
                <a16:creationId xmlns:a16="http://schemas.microsoft.com/office/drawing/2014/main" id="{7B704EAF-0DE3-4943-AD8E-D25B6D96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73" y="4681737"/>
            <a:ext cx="433800" cy="1098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Google Shape;371;p10">
            <a:extLst xmlns:a="http://schemas.openxmlformats.org/drawingml/2006/main">
              <a:ext uri="{FF2B5EF4-FFF2-40B4-BE49-F238E27FC236}">
                <a16:creationId xmlns:a16="http://schemas.microsoft.com/office/drawing/2014/main" id="{85171513-5599-4029-AB07-45A834EE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590288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동일한 단계 프레임으로 신규 기업 확장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2" name="Google Shape;372;p10">
            <a:extLst xmlns:a="http://schemas.openxmlformats.org/drawingml/2006/main">
              <a:ext uri="{FF2B5EF4-FFF2-40B4-BE49-F238E27FC236}">
                <a16:creationId xmlns:a16="http://schemas.microsoft.com/office/drawing/2014/main" id="{C509C31F-4CEF-4370-AEA5-984C7245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80"/>
            <a:ext cx="11057839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FE5E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27000" dist="25400" dir="5400000" algn="bl" rotWithShape="0">
              <a:srgbClr val="8894A8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" name="Google Shape;373;p10">
            <a:extLst xmlns:a="http://schemas.openxmlformats.org/drawingml/2006/main">
              <a:ext uri="{FF2B5EF4-FFF2-40B4-BE49-F238E27FC236}">
                <a16:creationId xmlns:a16="http://schemas.microsoft.com/office/drawing/2014/main" id="{1A4A645E-2704-4A85-8B78-61BC4732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0" y="5431530"/>
            <a:ext cx="24564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sz="1900" b="1" i="0" u="none" cap="none">
                <a:solidFill>
                  <a:srgbClr val="002D5A"/>
                </a:solidFill>
                <a:latin typeface="Malgun Gothic"/>
                <a:ea typeface="Malgun Gothic"/>
                <a:cs typeface="Malgun Gothic"/>
              </a:rPr>
              <a:t>서비스 화면</a:t>
            </a:r>
            <a:endParaRPr sz="1900" b="1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4" name="Google Shape;374;p10">
            <a:extLst xmlns:a="http://schemas.openxmlformats.org/drawingml/2006/main">
              <a:ext uri="{FF2B5EF4-FFF2-40B4-BE49-F238E27FC236}">
                <a16:creationId xmlns:a16="http://schemas.microsoft.com/office/drawing/2014/main" id="{07F8DEDA-7636-42F6-9CBE-87141E43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5449824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Cloudflare에서 웹 대시보드 운영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5" name="Google Shape;375;p10">
            <a:extLst xmlns:a="http://schemas.openxmlformats.org/drawingml/2006/main">
              <a:ext uri="{FF2B5EF4-FFF2-40B4-BE49-F238E27FC236}">
                <a16:creationId xmlns:a16="http://schemas.microsoft.com/office/drawing/2014/main" id="{F174363A-4242-4255-82EE-41EE5786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73" y="5541275"/>
            <a:ext cx="433800" cy="1098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009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6" name="Google Shape;376;p10">
            <a:extLst xmlns:a="http://schemas.openxmlformats.org/drawingml/2006/main">
              <a:ext uri="{FF2B5EF4-FFF2-40B4-BE49-F238E27FC236}">
                <a16:creationId xmlns:a16="http://schemas.microsoft.com/office/drawing/2014/main" id="{818A4FB8-1136-4C83-9474-9DCC9E3A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5449824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sz="1500" b="0" i="0" u="none" cap="none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PC·모바일에서 같은 최신 현황 제공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14" name="Google Shape;378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cf867d659746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008851" y="387350"/>
            <a:ext cx="413608" cy="3705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5" name="Google Shape;37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de3e87788c4f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481744" y="423571"/>
            <a:ext cx="1146560" cy="1769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6" name="Google Shape;38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8863bc1abd4b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0387015" y="619978"/>
            <a:ext cx="1146560" cy="137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1" name="Google Shape;381;p10">
            <a:extLst xmlns:a="http://schemas.openxmlformats.org/drawingml/2006/main">
              <a:ext uri="{FF2B5EF4-FFF2-40B4-BE49-F238E27FC236}">
                <a16:creationId xmlns:a16="http://schemas.microsoft.com/office/drawing/2014/main" id="{0FAA4DA5-A5C6-4C0D-A7F3-473EA2FF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127" y="6355080"/>
            <a:ext cx="5487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sz="1000">
                <a:solidFill>
                  <a:srgbClr val="65708A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01502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6" name="Google Shape;386;g3f99736c1cc_0_128">
            <a:extLst xmlns:a="http://schemas.openxmlformats.org/drawingml/2006/main">
              <a:ext uri="{FF2B5EF4-FFF2-40B4-BE49-F238E27FC236}">
                <a16:creationId xmlns:a16="http://schemas.microsoft.com/office/drawing/2014/main" id="{BBD0FAC1-CBED-4026-B231-556BF4C23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091" y="2766218"/>
            <a:ext cx="105159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2850" rIns="45700" bIns="2285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</a:pPr>
            <a:r>
              <a:rPr sz="5700" b="1">
                <a:latin typeface="Pretendard"/>
                <a:ea typeface="Pretendard"/>
                <a:cs typeface="Pretendard"/>
              </a:rPr>
              <a:t>감사합니다.</a:t>
            </a:r>
            <a:endParaRPr sz="5700" b="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409574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2026-08-11T06:30:15.8410000Z</dcterms:created>
  <dcterms:modified xsi:type="dcterms:W3CDTF">2026-08-11T06:30:15.8410000Z</dcterms:modified>
</coreProperties>
</file>